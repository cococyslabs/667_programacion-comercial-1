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Libre Franklin"/>
      <p:bold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 ExtraBold"/>
      <p:bold r:id="rId28"/>
      <p:boldItalic r:id="rId29"/>
    </p:embeddedFont>
    <p:embeddedFont>
      <p:font typeface="Open Sans Medium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8" roundtripDataSignature="AMtx7miptmXPGL9yJACDTQ1tRQWomOO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7E5FF0-2A8C-4535-872E-DA44E99DFEE5}">
  <a:tblStyle styleId="{3A7E5FF0-2A8C-4535-872E-DA44E99DFEE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88F6B813-B276-4996-AE24-DC49D123896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LibreFranklin-bold.fntdata"/><Relationship Id="rId21" Type="http://schemas.openxmlformats.org/officeDocument/2006/relationships/slide" Target="slides/slide15.xml"/><Relationship Id="rId24" Type="http://schemas.openxmlformats.org/officeDocument/2006/relationships/font" Target="fonts/OpenSansSemiBold-regular.fntdata"/><Relationship Id="rId23" Type="http://schemas.openxmlformats.org/officeDocument/2006/relationships/font" Target="fonts/LibreFranklin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ExtraBold-bold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Medium-bold.fntdata"/><Relationship Id="rId30" Type="http://schemas.openxmlformats.org/officeDocument/2006/relationships/font" Target="fonts/OpenSansMedium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Medium-italic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OpenSans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fc17623ee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9fc17623e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f60101c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5f60101cb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fc17623ee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g39fc17623ee_0_6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32d408c6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32d408c6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3b0184832_0_1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3b0184832_0_13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fc17623ee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9fc17623ee_0_5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fc17623ee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9fc17623e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fc17623ee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9fc17623ee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181bd78c9_0_66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7181bd78c9_0_627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3" name="Google Shape;13;g37181bd78c9_0_627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4" name="Google Shape;14;g37181bd78c9_0_62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7181bd78c9_0_631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7" name="Google Shape;17;g37181bd78c9_0_63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7181bd78c9_0_63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0" name="Google Shape;20;g37181bd78c9_0_63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21" name="Google Shape;21;g37181bd78c9_0_63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7181bd78c9_0_63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4" name="Google Shape;24;g37181bd78c9_0_638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5" name="Google Shape;25;g37181bd78c9_0_638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g37181bd78c9_0_63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7181bd78c9_0_64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g37181bd78c9_0_64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7181bd78c9_0_646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37181bd78c9_0_646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3" name="Google Shape;33;g37181bd78c9_0_64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7181bd78c9_0_650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6" name="Google Shape;36;g37181bd78c9_0_65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7181bd78c9_0_65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7181bd78c9_0_65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40" name="Google Shape;40;g37181bd78c9_0_65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g37181bd78c9_0_65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2" name="Google Shape;42;g37181bd78c9_0_65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181bd78c9_0_659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5" name="Google Shape;45;g37181bd78c9_0_65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7181bd78c9_0_662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8" name="Google Shape;48;g37181bd78c9_0_662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9" name="Google Shape;49;g37181bd78c9_0_66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32d408c6d_7_0)">
  <p:cSld name="Generated (g3e32d408c6d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181bd78c9_0_623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7181bd78c9_0_623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7181bd78c9_0_6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forms.gle/DsuiUQQKLhUep6qz9" TargetMode="External"/><Relationship Id="rId5" Type="http://schemas.openxmlformats.org/officeDocument/2006/relationships/hyperlink" Target="https://forms.gle/r3BTFeKL3F4tXoWX6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9fc17623ee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56302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g39fc17623ee_0_91"/>
          <p:cNvGraphicFramePr/>
          <p:nvPr/>
        </p:nvGraphicFramePr>
        <p:xfrm>
          <a:off x="10185725" y="2334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{3A7E5FF0-2A8C-4535-872E-DA44E99DFEE5}</a:tableStyleId>
              </a:tblPr>
              <a:tblGrid>
                <a:gridCol w="3038475"/>
                <a:gridCol w="4343400"/>
              </a:tblGrid>
              <a:tr h="800100"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Día, Fecha:</a:t>
                      </a:r>
                      <a:endParaRPr b="1"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/>
                        <a:t>17/07/2026</a:t>
                      </a:r>
                      <a:endParaRPr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b="1" lang="en-US" sz="2900" u="none" cap="none" strike="noStrike"/>
                        <a:t>Hora de inicio:</a:t>
                      </a:r>
                      <a:endParaRPr b="1"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u="none" cap="none" strike="noStrike"/>
                        <a:t>12:</a:t>
                      </a:r>
                      <a:r>
                        <a:rPr lang="en-US" sz="2900"/>
                        <a:t>3</a:t>
                      </a:r>
                      <a:r>
                        <a:rPr lang="en-US" sz="2900" u="none" cap="none" strike="noStrike"/>
                        <a:t>0</a:t>
                      </a:r>
                      <a:endParaRPr sz="2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" name="Google Shape;57;g39fc17623ee_0_91"/>
          <p:cNvSpPr txBox="1"/>
          <p:nvPr/>
        </p:nvSpPr>
        <p:spPr>
          <a:xfrm>
            <a:off x="3623750" y="4666350"/>
            <a:ext cx="11008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Programación Comercial 1 [</a:t>
            </a:r>
            <a:r>
              <a:rPr lang="en-US" sz="5000">
                <a:solidFill>
                  <a:schemeClr val="dk1"/>
                </a:solidFill>
              </a:rPr>
              <a:t>Q</a:t>
            </a:r>
            <a:r>
              <a:rPr b="0" i="0" lang="en-US" sz="5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9fc17623ee_0_91"/>
          <p:cNvSpPr txBox="1"/>
          <p:nvPr/>
        </p:nvSpPr>
        <p:spPr>
          <a:xfrm>
            <a:off x="3623750" y="5707950"/>
            <a:ext cx="87129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-US" sz="4100">
                <a:solidFill>
                  <a:schemeClr val="dk1"/>
                </a:solidFill>
              </a:rPr>
              <a:t>José Daniel Guzmán Hernández</a:t>
            </a:r>
            <a:endParaRPr b="0" i="0" sz="4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/>
        </p:nvSpPr>
        <p:spPr>
          <a:xfrm>
            <a:off x="1428750" y="2667000"/>
            <a:ext cx="7620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Programación Comercial I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1428750" y="3333750"/>
            <a:ext cx="12382500" cy="129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Sesión Diagnóstico</a:t>
            </a:r>
            <a:endParaRPr b="0" sz="8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428750" y="52387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1428750" y="5715000"/>
            <a:ext cx="9525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4155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Escuela de Ingeniería de Ciencias y Sistemas</a:t>
            </a:r>
            <a:endParaRPr b="0" sz="2400">
              <a:solidFill>
                <a:srgbClr val="334155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428750" y="6286500"/>
            <a:ext cx="9525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Facultad de Ingeniería</a:t>
            </a:r>
            <a:endParaRPr b="0" sz="2000">
              <a:solidFill>
                <a:srgbClr val="47556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1428750" y="6762750"/>
            <a:ext cx="9525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sz="1800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14294038" y="34290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3675700" y="1374600"/>
            <a:ext cx="3993950" cy="1292394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2"/>
          <p:cNvGrpSpPr/>
          <p:nvPr/>
        </p:nvGrpSpPr>
        <p:grpSpPr>
          <a:xfrm>
            <a:off x="1143000" y="762000"/>
            <a:ext cx="15430500" cy="1600200"/>
            <a:chOff x="1143000" y="762000"/>
            <a:chExt cx="15430500" cy="1600200"/>
          </a:xfrm>
        </p:grpSpPr>
        <p:sp>
          <p:nvSpPr>
            <p:cNvPr id="76" name="Google Shape;76;p2"/>
            <p:cNvSpPr txBox="1"/>
            <p:nvPr/>
          </p:nvSpPr>
          <p:spPr>
            <a:xfrm>
              <a:off x="1143000" y="762000"/>
              <a:ext cx="15430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563E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Programación Comercial I</a:t>
              </a:r>
              <a:endParaRPr b="0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77" name="Google Shape;77;p2"/>
            <p:cNvSpPr txBox="1"/>
            <p:nvPr/>
          </p:nvSpPr>
          <p:spPr>
            <a:xfrm>
              <a:off x="1143000" y="1238250"/>
              <a:ext cx="15430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5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Agenda y Recursos de la Sesión</a:t>
              </a:r>
              <a:endParaRPr b="0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43000" y="2286000"/>
              <a:ext cx="1143000" cy="762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1143000" y="2667000"/>
            <a:ext cx="7620000" cy="6667500"/>
            <a:chOff x="1143000" y="2667000"/>
            <a:chExt cx="7620000" cy="6667500"/>
          </a:xfrm>
        </p:grpSpPr>
        <p:sp>
          <p:nvSpPr>
            <p:cNvPr id="80" name="Google Shape;80;p2"/>
            <p:cNvSpPr/>
            <p:nvPr/>
          </p:nvSpPr>
          <p:spPr>
            <a:xfrm>
              <a:off x="1143000" y="2667000"/>
              <a:ext cx="7620000" cy="66675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 txBox="1"/>
            <p:nvPr/>
          </p:nvSpPr>
          <p:spPr>
            <a:xfrm>
              <a:off x="1524000" y="3048000"/>
              <a:ext cx="685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Agenda de la Sesión</a:t>
              </a:r>
              <a:endParaRPr b="0" sz="26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82" name="Google Shape;82;p2"/>
            <p:cNvSpPr txBox="1"/>
            <p:nvPr/>
          </p:nvSpPr>
          <p:spPr>
            <a:xfrm>
              <a:off x="1524000" y="39996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notifications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" name="Google Shape;83;p2"/>
            <p:cNvSpPr txBox="1"/>
            <p:nvPr/>
          </p:nvSpPr>
          <p:spPr>
            <a:xfrm>
              <a:off x="2190750" y="385762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Recordatorios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Avisos importantes de inicio de curso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4" name="Google Shape;84;p2"/>
            <p:cNvSpPr txBox="1"/>
            <p:nvPr/>
          </p:nvSpPr>
          <p:spPr>
            <a:xfrm>
              <a:off x="1524000" y="48568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2"/>
            <p:cNvSpPr txBox="1"/>
            <p:nvPr/>
          </p:nvSpPr>
          <p:spPr>
            <a:xfrm>
              <a:off x="2190750" y="471487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Introducción al Curso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Presentación general y objetivos de aprendizaje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1524000" y="57141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7" name="Google Shape;87;p2"/>
            <p:cNvSpPr txBox="1"/>
            <p:nvPr/>
          </p:nvSpPr>
          <p:spPr>
            <a:xfrm>
              <a:off x="2190750" y="557212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Lectura Programa del Curso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Repaso de políticas, tareas y evaluaciones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1524000" y="65713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p2"/>
            <p:cNvSpPr txBox="1"/>
            <p:nvPr/>
          </p:nvSpPr>
          <p:spPr>
            <a:xfrm>
              <a:off x="2190750" y="642937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Actividad de Clase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Dinámicas grupales de diagnóstico y práctica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1524000" y="74286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1" name="Google Shape;91;p2"/>
            <p:cNvSpPr txBox="1"/>
            <p:nvPr/>
          </p:nvSpPr>
          <p:spPr>
            <a:xfrm>
              <a:off x="2190750" y="728662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Tarea de Fortalecimiento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Práctica individual para consolidar conocimientos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9525000" y="2667000"/>
            <a:ext cx="7620000" cy="6667500"/>
            <a:chOff x="9525000" y="2667000"/>
            <a:chExt cx="7620000" cy="6667500"/>
          </a:xfrm>
        </p:grpSpPr>
        <p:sp>
          <p:nvSpPr>
            <p:cNvPr id="93" name="Google Shape;93;p2"/>
            <p:cNvSpPr/>
            <p:nvPr/>
          </p:nvSpPr>
          <p:spPr>
            <a:xfrm>
              <a:off x="9525000" y="2667000"/>
              <a:ext cx="7620000" cy="66675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9906000" y="3048000"/>
              <a:ext cx="685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Recursos del Curso</a:t>
              </a:r>
              <a:endParaRPr b="0" sz="26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9906000" y="39996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0572750" y="385762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Material de Clase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Presentaciones, lecturas y documentos oficiales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9906000" y="50473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laptop_chromebook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0572750" y="490537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Plataforma Virtual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Acceso a entrega de tareas y evaluaciones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9906000" y="60951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0572750" y="595312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Repositorio de Código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Ejemplos prácticos y proyectos de programación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9906000" y="71428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0572750" y="7000875"/>
              <a:ext cx="6096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Canal de Dudas</a:t>
              </a:r>
              <a:endParaRPr b="1" sz="1800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rPr>
                <a:t>Resolución de consultas y comunicación directa</a:t>
              </a:r>
              <a:endParaRPr sz="1300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/>
        </p:nvSpPr>
        <p:spPr>
          <a:xfrm>
            <a:off x="1428750" y="952500"/>
            <a:ext cx="1543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Competencia a Desarrollar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428750" y="1428750"/>
            <a:ext cx="1543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¿Qué competencia desarrollaremos?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1428750" y="3619500"/>
            <a:ext cx="4762500" cy="47625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1809750" y="4000500"/>
            <a:ext cx="4000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storage</a:t>
            </a:r>
            <a:endParaRPr sz="4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1. Datos Masivos</a:t>
            </a:r>
            <a:endParaRPr b="0" sz="2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Manejar e interpretar adecuadamente datos masivos, sean estos estructurados o no estructurados.</a:t>
            </a:r>
            <a:endParaRPr b="0" sz="16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762750" y="3619500"/>
            <a:ext cx="4762500" cy="47625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7143750" y="4000500"/>
            <a:ext cx="4000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bar_chart</a:t>
            </a:r>
            <a:endParaRPr sz="4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2. Visualización</a:t>
            </a:r>
            <a:endParaRPr b="0" sz="2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Facilitar su visualización e interpretación de forma sumamente eficaz y clara.</a:t>
            </a:r>
            <a:endParaRPr b="0" sz="16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2096750" y="3619500"/>
            <a:ext cx="4762500" cy="47625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2477750" y="4000500"/>
            <a:ext cx="4000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insights</a:t>
            </a:r>
            <a:endParaRPr sz="4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3. Toma de Decisiones</a:t>
            </a:r>
            <a:endParaRPr b="0" sz="2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Apoyar de manera estratégica y oportuna la correcta toma de decisiones dentro del curso.</a:t>
            </a:r>
            <a:endParaRPr b="0" sz="16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5"/>
          <p:cNvGrpSpPr/>
          <p:nvPr/>
        </p:nvGrpSpPr>
        <p:grpSpPr>
          <a:xfrm>
            <a:off x="1428750" y="952500"/>
            <a:ext cx="15430500" cy="476400"/>
            <a:chOff x="1428750" y="952500"/>
            <a:chExt cx="15430500" cy="476400"/>
          </a:xfrm>
        </p:grpSpPr>
        <p:sp>
          <p:nvSpPr>
            <p:cNvPr id="121" name="Google Shape;121;p5"/>
            <p:cNvSpPr/>
            <p:nvPr/>
          </p:nvSpPr>
          <p:spPr>
            <a:xfrm>
              <a:off x="1428750" y="952500"/>
              <a:ext cx="15430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 txBox="1"/>
            <p:nvPr/>
          </p:nvSpPr>
          <p:spPr>
            <a:xfrm>
              <a:off x="1428750" y="952500"/>
              <a:ext cx="1543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563E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BIENVENIDA Y PRESENTACIÓN</a:t>
              </a:r>
              <a:endParaRPr b="0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123" name="Google Shape;123;p5"/>
          <p:cNvGrpSpPr/>
          <p:nvPr/>
        </p:nvGrpSpPr>
        <p:grpSpPr>
          <a:xfrm>
            <a:off x="1428750" y="1428750"/>
            <a:ext cx="11430000" cy="1143000"/>
            <a:chOff x="1428750" y="1428750"/>
            <a:chExt cx="11430000" cy="1143000"/>
          </a:xfrm>
        </p:grpSpPr>
        <p:sp>
          <p:nvSpPr>
            <p:cNvPr id="124" name="Google Shape;124;p5"/>
            <p:cNvSpPr/>
            <p:nvPr/>
          </p:nvSpPr>
          <p:spPr>
            <a:xfrm>
              <a:off x="1428750" y="1428750"/>
              <a:ext cx="1143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1428750" y="1428750"/>
              <a:ext cx="1143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95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¿Quién soy? Conociendo al auxiliar</a:t>
              </a:r>
              <a:endParaRPr b="0" sz="4995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126" name="Google Shape;126;p5"/>
          <p:cNvGrpSpPr/>
          <p:nvPr/>
        </p:nvGrpSpPr>
        <p:grpSpPr>
          <a:xfrm>
            <a:off x="13811250" y="1619250"/>
            <a:ext cx="3048000" cy="571500"/>
            <a:chOff x="13811250" y="1619250"/>
            <a:chExt cx="3048000" cy="571500"/>
          </a:xfrm>
        </p:grpSpPr>
        <p:sp>
          <p:nvSpPr>
            <p:cNvPr id="127" name="Google Shape;127;p5"/>
            <p:cNvSpPr/>
            <p:nvPr/>
          </p:nvSpPr>
          <p:spPr>
            <a:xfrm>
              <a:off x="13811250" y="1619250"/>
              <a:ext cx="30480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 cap="flat" cmpd="sng" w="1905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5"/>
            <p:cNvSpPr txBox="1"/>
            <p:nvPr/>
          </p:nvSpPr>
          <p:spPr>
            <a:xfrm>
              <a:off x="13811250" y="16192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Duración: 10 minutos</a:t>
              </a:r>
              <a:endParaRPr b="1" sz="16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29" name="Google Shape;129;p5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5"/>
          <p:cNvGrpSpPr/>
          <p:nvPr/>
        </p:nvGrpSpPr>
        <p:grpSpPr>
          <a:xfrm>
            <a:off x="1428750" y="3619500"/>
            <a:ext cx="4762500" cy="4762500"/>
            <a:chOff x="1428750" y="3619500"/>
            <a:chExt cx="4762500" cy="4762500"/>
          </a:xfrm>
        </p:grpSpPr>
        <p:sp>
          <p:nvSpPr>
            <p:cNvPr id="131" name="Google Shape;131;p5"/>
            <p:cNvSpPr/>
            <p:nvPr/>
          </p:nvSpPr>
          <p:spPr>
            <a:xfrm>
              <a:off x="1428750" y="3619500"/>
              <a:ext cx="47625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5"/>
            <p:cNvSpPr txBox="1"/>
            <p:nvPr/>
          </p:nvSpPr>
          <p:spPr>
            <a:xfrm>
              <a:off x="1809750" y="4000500"/>
              <a:ext cx="4000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forum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1. Presentación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Saludo inicial y presentación personal ante los estudiantes para comenzar la sesión.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3" name="Google Shape;133;p5"/>
          <p:cNvGrpSpPr/>
          <p:nvPr/>
        </p:nvGrpSpPr>
        <p:grpSpPr>
          <a:xfrm>
            <a:off x="6762750" y="3619500"/>
            <a:ext cx="4762500" cy="4762500"/>
            <a:chOff x="6762750" y="3619500"/>
            <a:chExt cx="4762500" cy="4762500"/>
          </a:xfrm>
        </p:grpSpPr>
        <p:sp>
          <p:nvSpPr>
            <p:cNvPr id="134" name="Google Shape;134;p5"/>
            <p:cNvSpPr/>
            <p:nvPr/>
          </p:nvSpPr>
          <p:spPr>
            <a:xfrm>
              <a:off x="6762750" y="3619500"/>
              <a:ext cx="47625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 txBox="1"/>
            <p:nvPr/>
          </p:nvSpPr>
          <p:spPr>
            <a:xfrm>
              <a:off x="7143750" y="4000500"/>
              <a:ext cx="4000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2. Experiencia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Breve descripción de la trayectoria y experiencia tanto académica como profesional en el área.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6" name="Google Shape;136;p5"/>
          <p:cNvGrpSpPr/>
          <p:nvPr/>
        </p:nvGrpSpPr>
        <p:grpSpPr>
          <a:xfrm>
            <a:off x="12096750" y="3619500"/>
            <a:ext cx="4762500" cy="4762500"/>
            <a:chOff x="12096750" y="3619500"/>
            <a:chExt cx="4762500" cy="4762500"/>
          </a:xfrm>
        </p:grpSpPr>
        <p:sp>
          <p:nvSpPr>
            <p:cNvPr id="137" name="Google Shape;137;p5"/>
            <p:cNvSpPr/>
            <p:nvPr/>
          </p:nvSpPr>
          <p:spPr>
            <a:xfrm>
              <a:off x="12096750" y="3619500"/>
              <a:ext cx="4762500" cy="47625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12477750" y="4000500"/>
              <a:ext cx="40005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assignment_ind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3. Rol del Auxiliar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Explicación detallada del rol, las responsabilidades y el apoyo que brindará dentro del curso.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60101cbc_0_0"/>
          <p:cNvSpPr txBox="1"/>
          <p:nvPr/>
        </p:nvSpPr>
        <p:spPr>
          <a:xfrm>
            <a:off x="1428750" y="952500"/>
            <a:ext cx="15430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CANALES DE CONTACTO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4" name="Google Shape;144;g35f60101cbc_0_0"/>
          <p:cNvSpPr txBox="1"/>
          <p:nvPr/>
        </p:nvSpPr>
        <p:spPr>
          <a:xfrm>
            <a:off x="1428750" y="1428750"/>
            <a:ext cx="15430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Medios de Comunicación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45" name="Google Shape;145;g35f60101cbc_0_0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g35f60101cb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56200" y="7111021"/>
            <a:ext cx="3481775" cy="13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5f60101cbc_0_0"/>
          <p:cNvSpPr/>
          <p:nvPr/>
        </p:nvSpPr>
        <p:spPr>
          <a:xfrm>
            <a:off x="1428750" y="3429000"/>
            <a:ext cx="7239000" cy="5524500"/>
          </a:xfrm>
          <a:prstGeom prst="roundRect">
            <a:avLst>
              <a:gd fmla="val 413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5f60101cbc_0_0"/>
          <p:cNvSpPr/>
          <p:nvPr/>
        </p:nvSpPr>
        <p:spPr>
          <a:xfrm>
            <a:off x="9620250" y="3429000"/>
            <a:ext cx="7239000" cy="5524500"/>
          </a:xfrm>
          <a:prstGeom prst="roundRect">
            <a:avLst>
              <a:gd fmla="val 413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g35f60101cbc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5175" y="4000500"/>
            <a:ext cx="3481800" cy="13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5f60101cbc_0_0"/>
          <p:cNvSpPr txBox="1"/>
          <p:nvPr/>
        </p:nvSpPr>
        <p:spPr>
          <a:xfrm>
            <a:off x="1809750" y="5715000"/>
            <a:ext cx="6477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UEDI Foros (Medio Oficial)</a:t>
            </a:r>
            <a:endParaRPr b="0" sz="28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Este es el canal oficial y principal de comunicación para resolver dudas, participar en debates y recibir avisos generales del curso de manera organizada.</a:t>
            </a:r>
            <a:endParaRPr b="0" sz="1600">
              <a:solidFill>
                <a:srgbClr val="47556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1" name="Google Shape;151;g35f60101cbc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811000" y="3810000"/>
            <a:ext cx="28575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5f60101cbc_0_0"/>
          <p:cNvSpPr txBox="1"/>
          <p:nvPr/>
        </p:nvSpPr>
        <p:spPr>
          <a:xfrm>
            <a:off x="10001250" y="6286500"/>
            <a:ext cx="64770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2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Gmail </a:t>
            </a:r>
            <a:r>
              <a:rPr b="1" lang="en-US" sz="1480">
                <a:solidFill>
                  <a:srgbClr val="EF4444"/>
                </a:solidFill>
                <a:latin typeface="Open Sans"/>
                <a:ea typeface="Open Sans"/>
                <a:cs typeface="Open Sans"/>
                <a:sym typeface="Open Sans"/>
              </a:rPr>
              <a:t>(Solo si UEDI no está disponible)</a:t>
            </a:r>
            <a:endParaRPr b="0" sz="222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Utiliza esta alternativa únicamente ante contingencias técnicas de la plataforma oficial.</a:t>
            </a:r>
            <a:endParaRPr b="0" sz="1388">
              <a:solidFill>
                <a:srgbClr val="475569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Correo de contacto:</a:t>
            </a:r>
            <a:endParaRPr b="1" sz="148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1388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3305864161712</a:t>
            </a:r>
            <a:r>
              <a:rPr b="1" lang="en-US" sz="1388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@ingenieria.usac.edu.gt</a:t>
            </a:r>
            <a:endParaRPr b="1" sz="1388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Formato obligatorio de asunto:</a:t>
            </a:r>
            <a:endParaRPr b="1" sz="1480">
              <a:solidFill>
                <a:srgbClr val="1E293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388">
                <a:solidFill>
                  <a:srgbClr val="475569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Asunto Correo: </a:t>
            </a:r>
            <a:r>
              <a:rPr b="1" lang="en-US" sz="1388">
                <a:solidFill>
                  <a:srgbClr val="0F172A"/>
                </a:solidFill>
                <a:latin typeface="Open Sans"/>
                <a:ea typeface="Open Sans"/>
                <a:cs typeface="Open Sans"/>
                <a:sym typeface="Open Sans"/>
              </a:rPr>
              <a:t>[PC1]Asunto</a:t>
            </a:r>
            <a:endParaRPr b="0" sz="1388">
              <a:solidFill>
                <a:srgbClr val="475569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95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Ejemplo: [PC1]Duda nota HT1</a:t>
            </a:r>
            <a:endParaRPr i="1" sz="1295">
              <a:solidFill>
                <a:srgbClr val="6474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1428750" y="952500"/>
            <a:ext cx="15430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PRESENTACIÓN ESTUDIANTES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1428750" y="1428750"/>
            <a:ext cx="11430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Dinámica de Integración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160" name="Google Shape;160;p4"/>
          <p:cNvGrpSpPr/>
          <p:nvPr/>
        </p:nvGrpSpPr>
        <p:grpSpPr>
          <a:xfrm>
            <a:off x="13811250" y="1619250"/>
            <a:ext cx="3048000" cy="571500"/>
            <a:chOff x="13811250" y="1619250"/>
            <a:chExt cx="3048000" cy="571500"/>
          </a:xfrm>
        </p:grpSpPr>
        <p:sp>
          <p:nvSpPr>
            <p:cNvPr id="161" name="Google Shape;161;p4"/>
            <p:cNvSpPr/>
            <p:nvPr/>
          </p:nvSpPr>
          <p:spPr>
            <a:xfrm>
              <a:off x="13811250" y="1619250"/>
              <a:ext cx="30480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 cap="flat" cmpd="sng" w="1905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13811250" y="1619250"/>
              <a:ext cx="304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Duración: 25 minutos</a:t>
              </a:r>
              <a:endParaRPr b="1" sz="16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63" name="Google Shape;163;p4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" name="Google Shape;164;p4"/>
          <p:cNvGrpSpPr/>
          <p:nvPr/>
        </p:nvGrpSpPr>
        <p:grpSpPr>
          <a:xfrm>
            <a:off x="1428750" y="3429000"/>
            <a:ext cx="7239000" cy="5524500"/>
            <a:chOff x="1428750" y="3429000"/>
            <a:chExt cx="7239000" cy="5524500"/>
          </a:xfrm>
        </p:grpSpPr>
        <p:sp>
          <p:nvSpPr>
            <p:cNvPr id="165" name="Google Shape;165;p4"/>
            <p:cNvSpPr/>
            <p:nvPr/>
          </p:nvSpPr>
          <p:spPr>
            <a:xfrm>
              <a:off x="14287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4"/>
            <p:cNvSpPr txBox="1"/>
            <p:nvPr/>
          </p:nvSpPr>
          <p:spPr>
            <a:xfrm>
              <a:off x="1809750" y="3810000"/>
              <a:ext cx="64770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casino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Sorteo Aleatorio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Para fomentar un ambiente dinámico y participativo, se seleccionarán 5 estudiantes de manera completamente aleatoria a través de un sorteo para realizar su presentación ante la clase.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7" name="Google Shape;167;p4"/>
          <p:cNvGrpSpPr/>
          <p:nvPr/>
        </p:nvGrpSpPr>
        <p:grpSpPr>
          <a:xfrm>
            <a:off x="9620250" y="3429000"/>
            <a:ext cx="7239000" cy="5524500"/>
            <a:chOff x="9620250" y="3429000"/>
            <a:chExt cx="7239000" cy="5524500"/>
          </a:xfrm>
        </p:grpSpPr>
        <p:sp>
          <p:nvSpPr>
            <p:cNvPr id="168" name="Google Shape;168;p4"/>
            <p:cNvSpPr/>
            <p:nvPr/>
          </p:nvSpPr>
          <p:spPr>
            <a:xfrm>
              <a:off x="96202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0001250" y="3810000"/>
              <a:ext cx="6477000" cy="476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assignment_ind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¿Qué debes compartir?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Cada estudiante seleccionado deberá presentarse compartiendo los siguientes puntos clave:</a:t>
              </a:r>
              <a:endParaRPr b="0" sz="160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Nombre completo</a:t>
              </a: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para conocerte mejor.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Intereses o expectativas</a:t>
              </a: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particulares sobre este curso.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Experiencia previa</a:t>
              </a: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relacionada con la materia (si aplica).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302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Un dato curioso</a:t>
              </a:r>
              <a:r>
                <a:rPr b="0"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o divertido sobre ti mismo.</a:t>
              </a:r>
              <a:endParaRPr b="0"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9fc17623ee_0_6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g39fc17623ee_0_643"/>
          <p:cNvGrpSpPr/>
          <p:nvPr/>
        </p:nvGrpSpPr>
        <p:grpSpPr>
          <a:xfrm>
            <a:off x="1428750" y="952500"/>
            <a:ext cx="15430500" cy="476400"/>
            <a:chOff x="1428750" y="952500"/>
            <a:chExt cx="15430500" cy="476400"/>
          </a:xfrm>
        </p:grpSpPr>
        <p:sp>
          <p:nvSpPr>
            <p:cNvPr id="176" name="Google Shape;176;g39fc17623ee_0_643"/>
            <p:cNvSpPr/>
            <p:nvPr/>
          </p:nvSpPr>
          <p:spPr>
            <a:xfrm>
              <a:off x="1428750" y="952500"/>
              <a:ext cx="15430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g39fc17623ee_0_643"/>
            <p:cNvSpPr txBox="1"/>
            <p:nvPr/>
          </p:nvSpPr>
          <p:spPr>
            <a:xfrm>
              <a:off x="1428750" y="952500"/>
              <a:ext cx="1543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2563EB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EVALUACIÓN</a:t>
              </a:r>
              <a:endParaRPr b="0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178" name="Google Shape;178;g39fc17623ee_0_643"/>
          <p:cNvGrpSpPr/>
          <p:nvPr/>
        </p:nvGrpSpPr>
        <p:grpSpPr>
          <a:xfrm>
            <a:off x="1428750" y="1428750"/>
            <a:ext cx="11430000" cy="1143000"/>
            <a:chOff x="1428750" y="1428750"/>
            <a:chExt cx="11430000" cy="1143000"/>
          </a:xfrm>
        </p:grpSpPr>
        <p:sp>
          <p:nvSpPr>
            <p:cNvPr id="179" name="Google Shape;179;g39fc17623ee_0_643"/>
            <p:cNvSpPr/>
            <p:nvPr/>
          </p:nvSpPr>
          <p:spPr>
            <a:xfrm>
              <a:off x="1428750" y="1428750"/>
              <a:ext cx="114300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g39fc17623ee_0_643"/>
            <p:cNvSpPr txBox="1"/>
            <p:nvPr/>
          </p:nvSpPr>
          <p:spPr>
            <a:xfrm>
              <a:off x="1428750" y="1428750"/>
              <a:ext cx="1143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4995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Evaluación Conocimientos Previos</a:t>
              </a:r>
              <a:endParaRPr b="0" sz="4995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</p:txBody>
        </p:sp>
      </p:grpSp>
      <p:grpSp>
        <p:nvGrpSpPr>
          <p:cNvPr id="181" name="Google Shape;181;g39fc17623ee_0_643"/>
          <p:cNvGrpSpPr/>
          <p:nvPr/>
        </p:nvGrpSpPr>
        <p:grpSpPr>
          <a:xfrm>
            <a:off x="13811250" y="1619250"/>
            <a:ext cx="3048000" cy="571500"/>
            <a:chOff x="13811250" y="1619250"/>
            <a:chExt cx="3048000" cy="571500"/>
          </a:xfrm>
        </p:grpSpPr>
        <p:sp>
          <p:nvSpPr>
            <p:cNvPr id="182" name="Google Shape;182;g39fc17623ee_0_643"/>
            <p:cNvSpPr/>
            <p:nvPr/>
          </p:nvSpPr>
          <p:spPr>
            <a:xfrm>
              <a:off x="13811250" y="1619250"/>
              <a:ext cx="30480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 cap="flat" cmpd="sng" w="1905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9fc17623ee_0_643"/>
            <p:cNvSpPr txBox="1"/>
            <p:nvPr/>
          </p:nvSpPr>
          <p:spPr>
            <a:xfrm>
              <a:off x="13811250" y="16192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Duración: 15 minutos</a:t>
              </a:r>
              <a:endParaRPr b="1" sz="16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84" name="Google Shape;184;g39fc17623ee_0_643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" name="Google Shape;185;g39fc17623ee_0_643"/>
          <p:cNvGrpSpPr/>
          <p:nvPr/>
        </p:nvGrpSpPr>
        <p:grpSpPr>
          <a:xfrm>
            <a:off x="1428750" y="3429000"/>
            <a:ext cx="7239000" cy="5524500"/>
            <a:chOff x="1428750" y="3429000"/>
            <a:chExt cx="7239000" cy="5524500"/>
          </a:xfrm>
        </p:grpSpPr>
        <p:sp>
          <p:nvSpPr>
            <p:cNvPr id="186" name="Google Shape;186;g39fc17623ee_0_643"/>
            <p:cNvSpPr/>
            <p:nvPr/>
          </p:nvSpPr>
          <p:spPr>
            <a:xfrm>
              <a:off x="14287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39fc17623ee_0_643"/>
            <p:cNvSpPr txBox="1"/>
            <p:nvPr/>
          </p:nvSpPr>
          <p:spPr>
            <a:xfrm>
              <a:off x="1809750" y="3810000"/>
              <a:ext cx="6477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2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372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6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Acceso a la Actividad</a:t>
              </a:r>
              <a:endParaRPr b="0" sz="186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4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Ingresa al siguiente enlace de Kahoot para iniciar la evaluación interactiva de conocimientos previos y conocimientos actuales:</a:t>
              </a:r>
              <a:endParaRPr b="0" sz="124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b="1" lang="en-US" sz="1240" u="sng">
                  <a:solidFill>
                    <a:schemeClr val="accent5"/>
                  </a:solidFill>
                  <a:latin typeface="Open Sans"/>
                  <a:ea typeface="Open Sans"/>
                  <a:cs typeface="Open Sans"/>
                  <a:sym typeface="Open San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https://forms.gle/DsuiUQQKLhUep6qz9</a:t>
              </a:r>
              <a:endParaRPr sz="124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4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40" u="sng">
                  <a:solidFill>
                    <a:schemeClr val="hlink"/>
                  </a:solidFill>
                  <a:latin typeface="Open Sans"/>
                  <a:ea typeface="Open Sans"/>
                  <a:cs typeface="Open Sans"/>
                  <a:sym typeface="Open Sans"/>
                  <a:hlinkClick r:id="rId5"/>
                </a:rPr>
                <a:t>https://forms.gle/r3BTFeKL3F4tXoWX6</a:t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8" name="Google Shape;188;g39fc17623ee_0_643"/>
          <p:cNvGrpSpPr/>
          <p:nvPr/>
        </p:nvGrpSpPr>
        <p:grpSpPr>
          <a:xfrm>
            <a:off x="9620250" y="3429000"/>
            <a:ext cx="7239000" cy="5524500"/>
            <a:chOff x="9620250" y="3429000"/>
            <a:chExt cx="7239000" cy="5524500"/>
          </a:xfrm>
        </p:grpSpPr>
        <p:sp>
          <p:nvSpPr>
            <p:cNvPr id="189" name="Google Shape;189;g39fc17623ee_0_643"/>
            <p:cNvSpPr/>
            <p:nvPr/>
          </p:nvSpPr>
          <p:spPr>
            <a:xfrm>
              <a:off x="96202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g39fc17623ee_0_643"/>
            <p:cNvSpPr txBox="1"/>
            <p:nvPr/>
          </p:nvSpPr>
          <p:spPr>
            <a:xfrm>
              <a:off x="10001250" y="3810000"/>
              <a:ext cx="6477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Objetivos de la Actividad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Open Sans SemiBold"/>
                  <a:ea typeface="Open Sans SemiBold"/>
                  <a:cs typeface="Open Sans SemiBold"/>
                  <a:sym typeface="Open Sans SemiBold"/>
                </a:rPr>
                <a:t>Esta evaluación nos permitirá alcanzar los siguientes propósitos de aprendizaje:</a:t>
              </a:r>
              <a:endParaRPr b="0" sz="1600">
                <a:solidFill>
                  <a:srgbClr val="475569"/>
                </a:solidFill>
                <a:latin typeface="Open Sans SemiBold"/>
                <a:ea typeface="Open Sans SemiBold"/>
                <a:cs typeface="Open Sans SemiBold"/>
                <a:sym typeface="Open Sans SemiBold"/>
              </a:endParaRPr>
            </a:p>
            <a:p>
              <a:pPr indent="-3302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Identificar</a:t>
              </a:r>
              <a:r>
                <a:rPr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cuánto recuerdan del curso anterior para asegurar una base sólida.</a:t>
              </a:r>
              <a:endParaRPr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302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Explorar</a:t>
              </a:r>
              <a:r>
                <a:rPr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sus ideas y nociones previas sobre los temas del nuevo curso.</a:t>
              </a:r>
              <a:endParaRPr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3020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475569"/>
                </a:buClr>
                <a:buSzPts val="1600"/>
                <a:buFont typeface="Open Sans"/>
                <a:buChar char="●"/>
              </a:pPr>
              <a:r>
                <a:rPr b="1" lang="en-US" sz="16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Adaptar el enfoque</a:t>
              </a:r>
              <a:r>
                <a:rPr lang="en-US" sz="16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didáctico según las necesidades específicas y el nivel del grupo.</a:t>
              </a:r>
              <a:endParaRPr sz="16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1428750" y="952500"/>
            <a:ext cx="1143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PRESENTACIÓN PROGRAMA DEL CURSO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428750" y="1428750"/>
            <a:ext cx="1143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Lectura del Programa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pSp>
        <p:nvGrpSpPr>
          <p:cNvPr id="198" name="Google Shape;198;p7"/>
          <p:cNvGrpSpPr/>
          <p:nvPr/>
        </p:nvGrpSpPr>
        <p:grpSpPr>
          <a:xfrm>
            <a:off x="13811250" y="1619250"/>
            <a:ext cx="3048000" cy="571500"/>
            <a:chOff x="13811250" y="1619250"/>
            <a:chExt cx="3048000" cy="571500"/>
          </a:xfrm>
        </p:grpSpPr>
        <p:sp>
          <p:nvSpPr>
            <p:cNvPr id="199" name="Google Shape;199;p7"/>
            <p:cNvSpPr/>
            <p:nvPr/>
          </p:nvSpPr>
          <p:spPr>
            <a:xfrm>
              <a:off x="13811250" y="1619250"/>
              <a:ext cx="3048000" cy="571500"/>
            </a:xfrm>
            <a:prstGeom prst="roundRect">
              <a:avLst>
                <a:gd fmla="val 50000" name="adj"/>
              </a:avLst>
            </a:prstGeom>
            <a:solidFill>
              <a:srgbClr val="FEE2E2"/>
            </a:solidFill>
            <a:ln cap="flat" cmpd="sng" w="19050">
              <a:solidFill>
                <a:srgbClr val="FC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13811250" y="1619250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DC2626"/>
                  </a:solidFill>
                  <a:latin typeface="Open Sans"/>
                  <a:ea typeface="Open Sans"/>
                  <a:cs typeface="Open Sans"/>
                  <a:sym typeface="Open Sans"/>
                </a:rPr>
                <a:t>Duración: 20 minutos</a:t>
              </a:r>
              <a:endParaRPr b="1" sz="1600">
                <a:solidFill>
                  <a:srgbClr val="DC262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01" name="Google Shape;201;p7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7"/>
          <p:cNvGrpSpPr/>
          <p:nvPr/>
        </p:nvGrpSpPr>
        <p:grpSpPr>
          <a:xfrm>
            <a:off x="1428750" y="3429000"/>
            <a:ext cx="7239000" cy="5524500"/>
            <a:chOff x="1428750" y="3429000"/>
            <a:chExt cx="7239000" cy="5524500"/>
          </a:xfrm>
        </p:grpSpPr>
        <p:sp>
          <p:nvSpPr>
            <p:cNvPr id="203" name="Google Shape;203;p7"/>
            <p:cNvSpPr/>
            <p:nvPr/>
          </p:nvSpPr>
          <p:spPr>
            <a:xfrm>
              <a:off x="14287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 txBox="1"/>
            <p:nvPr/>
          </p:nvSpPr>
          <p:spPr>
            <a:xfrm>
              <a:off x="1809750" y="3810000"/>
              <a:ext cx="6477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Competencias y Objetivos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Se dará lectura del programa para identificar los objetivos de aprendizaje, la metodología y los recursos que utilizaremos: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Propósito: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Relevancia del curso en el plan de estudios.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Objetivos: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Definidos bajo la Taxonomía de Bloom.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Metodología: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Enfoque teórico-práctico y proyectos.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05" name="Google Shape;205;p7"/>
          <p:cNvGrpSpPr/>
          <p:nvPr/>
        </p:nvGrpSpPr>
        <p:grpSpPr>
          <a:xfrm>
            <a:off x="9620250" y="3429000"/>
            <a:ext cx="7239000" cy="5524500"/>
            <a:chOff x="9620250" y="3429000"/>
            <a:chExt cx="7239000" cy="5524500"/>
          </a:xfrm>
        </p:grpSpPr>
        <p:sp>
          <p:nvSpPr>
            <p:cNvPr id="206" name="Google Shape;206;p7"/>
            <p:cNvSpPr/>
            <p:nvPr/>
          </p:nvSpPr>
          <p:spPr>
            <a:xfrm>
              <a:off x="96202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10001250" y="3810000"/>
              <a:ext cx="6477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Temario y Contenidos</a:t>
              </a:r>
              <a:endParaRPr b="0" sz="2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Revisión detallada de la estructura temática del curso y su dosificación a lo largo del periodo:</a:t>
              </a:r>
              <a:endParaRPr b="0"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Unidades: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Desglose de los temas principales a desarrollar.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Laboratorio: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Actividades y prácticas de programación.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475569"/>
                </a:buClr>
                <a:buSzPts val="1500"/>
                <a:buFont typeface="Open Sans"/>
                <a:buChar char="●"/>
              </a:pPr>
              <a:r>
                <a:rPr b="1" lang="en-US" sz="1500">
                  <a:solidFill>
                    <a:srgbClr val="0F172A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Evaluación:</a:t>
              </a:r>
              <a:r>
                <a:rPr lang="en-US" sz="15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 Criterios de ponderación y entregables.</a:t>
              </a:r>
              <a:endParaRPr sz="15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/>
        </p:nvSpPr>
        <p:spPr>
          <a:xfrm>
            <a:off x="1428750" y="952500"/>
            <a:ext cx="154305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NORMAS DEL CURSO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Normas en Clase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" name="Google Shape;214;p6"/>
          <p:cNvGrpSpPr/>
          <p:nvPr/>
        </p:nvGrpSpPr>
        <p:grpSpPr>
          <a:xfrm>
            <a:off x="1428750" y="3429000"/>
            <a:ext cx="15430500" cy="5810400"/>
            <a:chOff x="1428750" y="3429000"/>
            <a:chExt cx="15430500" cy="5810400"/>
          </a:xfrm>
        </p:grpSpPr>
        <p:sp>
          <p:nvSpPr>
            <p:cNvPr id="215" name="Google Shape;215;p6"/>
            <p:cNvSpPr/>
            <p:nvPr/>
          </p:nvSpPr>
          <p:spPr>
            <a:xfrm>
              <a:off x="1428750" y="3429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1762125" y="3714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people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Respeto Mutuo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Respeto a sus compañeros, al docente y a ustedes mismos en todo momento.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6762750" y="3429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6"/>
            <p:cNvSpPr txBox="1"/>
            <p:nvPr/>
          </p:nvSpPr>
          <p:spPr>
            <a:xfrm>
              <a:off x="7096125" y="3714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hearing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Prestar Atención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Mantener una actitud activa y de escucha atenta durante el desarrollo de las sesiones.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12096750" y="3429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6"/>
            <p:cNvSpPr txBox="1"/>
            <p:nvPr/>
          </p:nvSpPr>
          <p:spPr>
            <a:xfrm>
              <a:off x="12430125" y="3714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assignment_turned_in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Asistencia Mínima (80%)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Obligatoria para tener derecho a nota. Se tomará mediante actividades dentro del horario oficial.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1428750" y="6477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6"/>
            <p:cNvSpPr txBox="1"/>
            <p:nvPr/>
          </p:nvSpPr>
          <p:spPr>
            <a:xfrm>
              <a:off x="1762125" y="6762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Entregas a Tiempo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NO se aceptará ninguna actividad tarde, bajo ninguna circunstancia o excepción.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6762750" y="6477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6"/>
            <p:cNvSpPr txBox="1"/>
            <p:nvPr/>
          </p:nvSpPr>
          <p:spPr>
            <a:xfrm>
              <a:off x="7096125" y="6762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Honestidad Académica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Copias totales o parciales serán reportadas directamente a la escuela para penalización.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12096750" y="6477000"/>
              <a:ext cx="4762500" cy="2762400"/>
            </a:xfrm>
            <a:prstGeom prst="roundRect">
              <a:avLst>
                <a:gd fmla="val 551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12430125" y="6762750"/>
              <a:ext cx="40959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work</a:t>
              </a:r>
              <a:endParaRPr sz="3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Profesionalismo</a:t>
              </a:r>
              <a:endParaRPr b="0" sz="18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Comportarse de manera profesional y ética en cada interacción del curso.</a:t>
              </a:r>
              <a:endParaRPr b="0" sz="13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32d408c6d_0_7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32d408c6d_0_70"/>
          <p:cNvSpPr/>
          <p:nvPr/>
        </p:nvSpPr>
        <p:spPr>
          <a:xfrm>
            <a:off x="0" y="0"/>
            <a:ext cx="18288000" cy="1428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e32d408c6d_0_70"/>
          <p:cNvSpPr txBox="1"/>
          <p:nvPr/>
        </p:nvSpPr>
        <p:spPr>
          <a:xfrm>
            <a:off x="762000" y="285750"/>
            <a:ext cx="1676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5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Tarea #0 — Estructuras de Datos</a:t>
            </a:r>
            <a:endParaRPr sz="52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4" name="Google Shape;234;g3e32d408c6d_0_70"/>
          <p:cNvSpPr txBox="1"/>
          <p:nvPr/>
        </p:nvSpPr>
        <p:spPr>
          <a:xfrm>
            <a:off x="762000" y="1333500"/>
            <a:ext cx="1676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Laboratorio - Programación Comercial 1 | USAC - Facultad de Ingeniería | 2do Semestre 2026</a:t>
            </a:r>
            <a:endParaRPr sz="2000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32d408c6d_0_70"/>
          <p:cNvSpPr/>
          <p:nvPr/>
        </p:nvSpPr>
        <p:spPr>
          <a:xfrm>
            <a:off x="762000" y="2000250"/>
            <a:ext cx="4286400" cy="1428900"/>
          </a:xfrm>
          <a:prstGeom prst="roundRect">
            <a:avLst>
              <a:gd fmla="val 10000" name="adj"/>
            </a:avLst>
          </a:prstGeom>
          <a:solidFill>
            <a:srgbClr val="F1F3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32d408c6d_0_70"/>
          <p:cNvSpPr txBox="1"/>
          <p:nvPr/>
        </p:nvSpPr>
        <p:spPr>
          <a:xfrm>
            <a:off x="952500" y="2095500"/>
            <a:ext cx="3905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Ponderación: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2.5 pts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Tiempo estimado: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2 hrs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7" name="Google Shape;237;g3e32d408c6d_0_70"/>
          <p:cNvSpPr/>
          <p:nvPr/>
        </p:nvSpPr>
        <p:spPr>
          <a:xfrm>
            <a:off x="5238750" y="2000250"/>
            <a:ext cx="12287400" cy="1428900"/>
          </a:xfrm>
          <a:prstGeom prst="roundRect">
            <a:avLst>
              <a:gd fmla="val 10000" name="adj"/>
            </a:avLst>
          </a:prstGeom>
          <a:solidFill>
            <a:srgbClr val="E8F0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e32d408c6d_0_70"/>
          <p:cNvSpPr txBox="1"/>
          <p:nvPr/>
        </p:nvSpPr>
        <p:spPr>
          <a:xfrm>
            <a:off x="5524500" y="2095500"/>
            <a:ext cx="11715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OBJETIVO: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El estudiante investigará y organizará información sobre tipos de datos en programación, elaborando una tabla comparativa que muestre sus diferencias y aplicaciones.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9" name="Google Shape;239;g3e32d408c6d_0_70"/>
          <p:cNvSpPr txBox="1"/>
          <p:nvPr/>
        </p:nvSpPr>
        <p:spPr>
          <a:xfrm>
            <a:off x="762000" y="3714750"/>
            <a:ext cx="95250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INSTRUCCIONES:</a:t>
            </a:r>
            <a:endParaRPr b="1" sz="24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Investigación: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Tipos de datos primitivos y compuestos (entero, flotante, carácter, cadena, booleano, listas, arreglos, estructuras).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Implementación: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Tabla comparativa con nombre, descripción, ejemplo, ventajas/desventajas y aplicación.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42900" lvl="0" marL="457200" rtl="0" algn="l">
              <a:spcBef>
                <a:spcPts val="900"/>
              </a:spcBef>
              <a:spcAft>
                <a:spcPts val="900"/>
              </a:spcAft>
              <a:buClr>
                <a:srgbClr val="333333"/>
              </a:buClr>
              <a:buSzPts val="1800"/>
              <a:buFont typeface="Libre Franklin"/>
              <a:buChar char="●"/>
            </a:pP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Reporte:</a:t>
            </a: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Generar un PDF con la tabla comparativa, ordenado y claro.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0" name="Google Shape;240;g3e32d408c6d_0_70"/>
          <p:cNvSpPr txBox="1"/>
          <p:nvPr/>
        </p:nvSpPr>
        <p:spPr>
          <a:xfrm>
            <a:off x="762000" y="6667500"/>
            <a:ext cx="9525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ENTREGABLE:</a:t>
            </a:r>
            <a:endParaRPr b="1" sz="240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Archivo PDF subido a UEDI</a:t>
            </a:r>
            <a:b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Nombre: </a:t>
            </a:r>
            <a:r>
              <a:rPr b="1" lang="en-US" sz="1800">
                <a:solidFill>
                  <a:srgbClr val="333333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PC1_T0_CARNET.pdf</a:t>
            </a:r>
            <a:endParaRPr sz="1800">
              <a:solidFill>
                <a:srgbClr val="333333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1" name="Google Shape;241;g3e32d408c6d_0_70"/>
          <p:cNvSpPr/>
          <p:nvPr/>
        </p:nvSpPr>
        <p:spPr>
          <a:xfrm>
            <a:off x="10953750" y="3714750"/>
            <a:ext cx="6572400" cy="4762500"/>
          </a:xfrm>
          <a:prstGeom prst="roundRect">
            <a:avLst>
              <a:gd fmla="val 3000" name="adj"/>
            </a:avLst>
          </a:prstGeom>
          <a:solidFill>
            <a:srgbClr val="FFFFFF"/>
          </a:solidFill>
          <a:ln cap="flat" cmpd="sng" w="1905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2" name="Google Shape;242;g3e32d408c6d_0_70"/>
          <p:cNvGraphicFramePr/>
          <p:nvPr/>
        </p:nvGraphicFramePr>
        <p:xfrm>
          <a:off x="11239500" y="390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{88F6B813-B276-4996-AE24-DC49D1238964}</a:tableStyleId>
              </a:tblPr>
              <a:tblGrid>
                <a:gridCol w="3000375"/>
                <a:gridCol w="3000375"/>
              </a:tblGrid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Criterio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Punteo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Investigación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Implementación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1.00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Reporte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Presentación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0.25 pt</a:t>
                      </a:r>
                      <a:endParaRPr/>
                    </a:p>
                  </a:txBody>
                  <a:tcPr marT="95250" marB="95250" marR="95250" marL="95250"/>
                </a:tc>
              </a:tr>
              <a:tr h="73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Total</a:t>
                      </a:r>
                      <a:endParaRPr/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2.50 pts</a:t>
                      </a:r>
                      <a:endParaRPr/>
                    </a:p>
                  </a:txBody>
                  <a:tcPr marT="95250" marB="95250" marR="95250" marL="952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3b0184832_0_1326"/>
          <p:cNvSpPr txBox="1"/>
          <p:nvPr/>
        </p:nvSpPr>
        <p:spPr>
          <a:xfrm>
            <a:off x="1428750" y="952500"/>
            <a:ext cx="154305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NORMAS DEL CURSO</a:t>
            </a:r>
            <a:endParaRPr b="0" sz="2000">
              <a:solidFill>
                <a:srgbClr val="2563EB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Asignación al DTT</a:t>
            </a:r>
            <a:endParaRPr b="0" sz="5400">
              <a:solidFill>
                <a:srgbClr val="0F172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48" name="Google Shape;248;g3f3b0184832_0_1326"/>
          <p:cNvSpPr/>
          <p:nvPr/>
        </p:nvSpPr>
        <p:spPr>
          <a:xfrm>
            <a:off x="1428750" y="27622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g3f3b0184832_0_1326"/>
          <p:cNvGrpSpPr/>
          <p:nvPr/>
        </p:nvGrpSpPr>
        <p:grpSpPr>
          <a:xfrm>
            <a:off x="952500" y="3429000"/>
            <a:ext cx="7239000" cy="5524500"/>
            <a:chOff x="1428750" y="3429000"/>
            <a:chExt cx="7239000" cy="5524500"/>
          </a:xfrm>
        </p:grpSpPr>
        <p:sp>
          <p:nvSpPr>
            <p:cNvPr id="250" name="Google Shape;250;g3f3b0184832_0_1326"/>
            <p:cNvSpPr/>
            <p:nvPr/>
          </p:nvSpPr>
          <p:spPr>
            <a:xfrm>
              <a:off x="1428750" y="3429000"/>
              <a:ext cx="7239000" cy="5524500"/>
            </a:xfrm>
            <a:prstGeom prst="roundRect">
              <a:avLst>
                <a:gd fmla="val 4137" name="adj"/>
              </a:avLst>
            </a:prstGeom>
            <a:solidFill>
              <a:srgbClr val="FFFFFF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f3b0184832_0_1326"/>
            <p:cNvSpPr txBox="1"/>
            <p:nvPr/>
          </p:nvSpPr>
          <p:spPr>
            <a:xfrm>
              <a:off x="1809750" y="3810000"/>
              <a:ext cx="6477000" cy="47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72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</a:t>
              </a:r>
              <a:endParaRPr sz="372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60">
                  <a:solidFill>
                    <a:srgbClr val="0F172A"/>
                  </a:solidFill>
                  <a:latin typeface="Open Sans ExtraBold"/>
                  <a:ea typeface="Open Sans ExtraBold"/>
                  <a:cs typeface="Open Sans ExtraBold"/>
                  <a:sym typeface="Open Sans ExtraBold"/>
                </a:rPr>
                <a:t>Link del forms</a:t>
              </a:r>
              <a:endParaRPr sz="186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sz="1860">
                <a:solidFill>
                  <a:srgbClr val="0F172A"/>
                </a:solidFill>
                <a:latin typeface="Open Sans ExtraBold"/>
                <a:ea typeface="Open Sans ExtraBold"/>
                <a:cs typeface="Open Sans ExtraBold"/>
                <a:sym typeface="Open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40">
                  <a:solidFill>
                    <a:srgbClr val="475569"/>
                  </a:solidFill>
                  <a:latin typeface="Open Sans"/>
                  <a:ea typeface="Open Sans"/>
                  <a:cs typeface="Open Sans"/>
                  <a:sym typeface="Open Sans"/>
                </a:rPr>
                <a:t>https://forms.gle/TfezDeNhEsLqVdNv8</a:t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40">
                <a:solidFill>
                  <a:srgbClr val="2563EB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52" name="Google Shape;252;g3f3b0184832_0_1326"/>
          <p:cNvSpPr/>
          <p:nvPr/>
        </p:nvSpPr>
        <p:spPr>
          <a:xfrm>
            <a:off x="13785163" y="1829263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3b0184832_0_1326"/>
          <p:cNvSpPr/>
          <p:nvPr/>
        </p:nvSpPr>
        <p:spPr>
          <a:xfrm>
            <a:off x="13166825" y="5600225"/>
            <a:ext cx="3993950" cy="1292394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c17623ee_0_541"/>
          <p:cNvSpPr/>
          <p:nvPr/>
        </p:nvSpPr>
        <p:spPr>
          <a:xfrm>
            <a:off x="0" y="0"/>
            <a:ext cx="18288000" cy="14289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9fc17623ee_0_541"/>
          <p:cNvSpPr txBox="1"/>
          <p:nvPr/>
        </p:nvSpPr>
        <p:spPr>
          <a:xfrm>
            <a:off x="762000" y="190500"/>
            <a:ext cx="16764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 sz="520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grpSp>
        <p:nvGrpSpPr>
          <p:cNvPr id="260" name="Google Shape;260;g39fc17623ee_0_541"/>
          <p:cNvGrpSpPr/>
          <p:nvPr/>
        </p:nvGrpSpPr>
        <p:grpSpPr>
          <a:xfrm>
            <a:off x="762000" y="2476500"/>
            <a:ext cx="5143500" cy="6286500"/>
            <a:chOff x="762000" y="2476500"/>
            <a:chExt cx="5143500" cy="6286500"/>
          </a:xfrm>
        </p:grpSpPr>
        <p:sp>
          <p:nvSpPr>
            <p:cNvPr id="261" name="Google Shape;261;g39fc17623ee_0_541"/>
            <p:cNvSpPr/>
            <p:nvPr/>
          </p:nvSpPr>
          <p:spPr>
            <a:xfrm>
              <a:off x="762000" y="2476500"/>
              <a:ext cx="5143500" cy="6286500"/>
            </a:xfrm>
            <a:prstGeom prst="roundRect">
              <a:avLst>
                <a:gd fmla="val 3703" name="adj"/>
              </a:avLst>
            </a:prstGeom>
            <a:solidFill>
              <a:srgbClr val="E8F0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9fc17623ee_0_541"/>
            <p:cNvSpPr txBox="1"/>
            <p:nvPr/>
          </p:nvSpPr>
          <p:spPr>
            <a:xfrm>
              <a:off x="1143000" y="2857500"/>
              <a:ext cx="4381500" cy="55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6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computer</a:t>
              </a:r>
              <a:endParaRPr sz="336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8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PLATAFORMA VIRTUAL</a:t>
              </a:r>
              <a:endParaRPr b="1" sz="98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96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Portal de Estudios UEDI</a:t>
              </a:r>
              <a:endParaRPr b="1" sz="196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2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Enlace oficial del curso para asignaciones, recursos y material de apoyo de la Facultad de Ingeniería.</a:t>
              </a:r>
              <a:endParaRPr sz="112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0"/>
                </a:spcBef>
                <a:spcAft>
                  <a:spcPts val="0"/>
                </a:spcAft>
                <a:buNone/>
              </a:pPr>
              <a:r>
                <a:rPr b="1" lang="en-US" sz="98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https://uedi.ingenieria.usac.edu.gt/campus/course/view.php?id=1462</a:t>
              </a:r>
              <a:endParaRPr b="1" sz="98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g39fc17623ee_0_541"/>
          <p:cNvGrpSpPr/>
          <p:nvPr/>
        </p:nvGrpSpPr>
        <p:grpSpPr>
          <a:xfrm>
            <a:off x="6572250" y="2476500"/>
            <a:ext cx="5143500" cy="6286500"/>
            <a:chOff x="6572250" y="2476500"/>
            <a:chExt cx="5143500" cy="6286500"/>
          </a:xfrm>
        </p:grpSpPr>
        <p:sp>
          <p:nvSpPr>
            <p:cNvPr id="264" name="Google Shape;264;g39fc17623ee_0_541"/>
            <p:cNvSpPr/>
            <p:nvPr/>
          </p:nvSpPr>
          <p:spPr>
            <a:xfrm>
              <a:off x="6572250" y="2476500"/>
              <a:ext cx="5143500" cy="6286500"/>
            </a:xfrm>
            <a:prstGeom prst="roundRect">
              <a:avLst>
                <a:gd fmla="val 370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g39fc17623ee_0_541"/>
            <p:cNvSpPr txBox="1"/>
            <p:nvPr/>
          </p:nvSpPr>
          <p:spPr>
            <a:xfrm>
              <a:off x="6953250" y="2857500"/>
              <a:ext cx="4381500" cy="55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4755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book</a:t>
              </a:r>
              <a:endParaRPr sz="4800">
                <a:solidFill>
                  <a:srgbClr val="4755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LITERATURA PRINCIPAL</a:t>
              </a:r>
              <a:endParaRPr b="1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Sistemas de Información Gerencial</a:t>
              </a:r>
              <a:endParaRPr b="1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Autores:</a:t>
              </a:r>
              <a:r>
                <a:rPr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Laudon, K. C., &amp; Laudon, J. P. (2016).</a:t>
              </a:r>
              <a:endParaRPr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Edición:</a:t>
              </a:r>
              <a:r>
                <a:rPr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14ª Edición, Pearson Educación.</a:t>
              </a:r>
              <a:endParaRPr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g39fc17623ee_0_541"/>
          <p:cNvGrpSpPr/>
          <p:nvPr/>
        </p:nvGrpSpPr>
        <p:grpSpPr>
          <a:xfrm>
            <a:off x="12382500" y="2476500"/>
            <a:ext cx="5143500" cy="6286500"/>
            <a:chOff x="12382500" y="2476500"/>
            <a:chExt cx="5143500" cy="6286500"/>
          </a:xfrm>
        </p:grpSpPr>
        <p:sp>
          <p:nvSpPr>
            <p:cNvPr id="267" name="Google Shape;267;g39fc17623ee_0_541"/>
            <p:cNvSpPr/>
            <p:nvPr/>
          </p:nvSpPr>
          <p:spPr>
            <a:xfrm>
              <a:off x="12382500" y="2476500"/>
              <a:ext cx="5143500" cy="6286500"/>
            </a:xfrm>
            <a:prstGeom prst="roundRect">
              <a:avLst>
                <a:gd fmla="val 3703" name="adj"/>
              </a:avLst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9fc17623ee_0_541"/>
            <p:cNvSpPr txBox="1"/>
            <p:nvPr/>
          </p:nvSpPr>
          <p:spPr>
            <a:xfrm>
              <a:off x="12763500" y="2857500"/>
              <a:ext cx="4381500" cy="552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4755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 sz="4800">
                <a:solidFill>
                  <a:srgbClr val="4755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LITERATURA COMPLEMENTARIA</a:t>
              </a:r>
              <a:endParaRPr b="1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Tecnologías de la Información</a:t>
              </a:r>
              <a:endParaRPr b="1" sz="2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Autores:</a:t>
              </a:r>
              <a:r>
                <a:rPr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Daniel Cohen, Enrique Asín Lares.</a:t>
              </a:r>
              <a:endParaRPr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Detalles:</a:t>
              </a:r>
              <a:r>
                <a:rPr lang="en-US" sz="16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Estrategias y transformación en los negocios. McGraw Hill. Sexta Edición.</a:t>
              </a:r>
              <a:endParaRPr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9" name="Google Shape;269;g39fc17623ee_0_541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313" y="5481075"/>
            <a:ext cx="3828874" cy="238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fc17623ee_0_111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g39fc17623ee_0_111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6287" y="699975"/>
            <a:ext cx="9135424" cy="569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fc17623ee_0_195"/>
          <p:cNvSpPr txBox="1"/>
          <p:nvPr/>
        </p:nvSpPr>
        <p:spPr>
          <a:xfrm>
            <a:off x="1428750" y="1143000"/>
            <a:ext cx="952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Contacto &amp; Soporte</a:t>
            </a:r>
            <a:endParaRPr b="0" sz="20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9fc17623ee_0_195"/>
          <p:cNvSpPr txBox="1"/>
          <p:nvPr/>
        </p:nvSpPr>
        <p:spPr>
          <a:xfrm>
            <a:off x="1428750" y="1714500"/>
            <a:ext cx="9525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 b="0" sz="5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9fc17623ee_0_195"/>
          <p:cNvSpPr/>
          <p:nvPr/>
        </p:nvSpPr>
        <p:spPr>
          <a:xfrm>
            <a:off x="1428750" y="2952750"/>
            <a:ext cx="1143000" cy="762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fc17623ee_0_195"/>
          <p:cNvSpPr/>
          <p:nvPr/>
        </p:nvSpPr>
        <p:spPr>
          <a:xfrm>
            <a:off x="1428750" y="3619500"/>
            <a:ext cx="8096400" cy="40005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9fc17623ee_0_195"/>
          <p:cNvSpPr txBox="1"/>
          <p:nvPr/>
        </p:nvSpPr>
        <p:spPr>
          <a:xfrm>
            <a:off x="1905000" y="4000500"/>
            <a:ext cx="71439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forum</a:t>
            </a:r>
            <a:endParaRPr sz="4800">
              <a:solidFill>
                <a:srgbClr val="2563EB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¿Tienes dudas o consultas?</a:t>
            </a:r>
            <a:endParaRPr b="0" sz="2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Recuerda que tenemos nuestro </a:t>
            </a:r>
            <a:r>
              <a:rPr b="1" lang="en-US" sz="16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foro semanal</a:t>
            </a:r>
            <a:r>
              <a:rPr b="0" lang="en-US" sz="16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 donde puedes consultar cualquier duda que te surja en la semana.</a:t>
            </a:r>
            <a:endParaRPr b="0" sz="16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39fc17623ee_0_195"/>
          <p:cNvSpPr/>
          <p:nvPr/>
        </p:nvSpPr>
        <p:spPr>
          <a:xfrm>
            <a:off x="13540788" y="3619488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