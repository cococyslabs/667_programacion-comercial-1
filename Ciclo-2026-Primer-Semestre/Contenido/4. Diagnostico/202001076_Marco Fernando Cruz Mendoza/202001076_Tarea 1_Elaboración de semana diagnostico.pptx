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Arial Bold" charset="1" panose="020B0704020202020204"/>
      <p:regular r:id="rId26"/>
    </p:embeddedFont>
    <p:embeddedFont>
      <p:font typeface="Arial" charset="1" panose="020B0604020202020204"/>
      <p:regular r:id="rId27"/>
    </p:embeddedFont>
    <p:embeddedFont>
      <p:font typeface="Oswald" charset="1" panose="00000500000000000000"/>
      <p:regular r:id="rId28"/>
    </p:embeddedFont>
    <p:embeddedFont>
      <p:font typeface="Open Sans Bold" charset="1" panose="00000000000000000000"/>
      <p:regular r:id="rId29"/>
    </p:embeddedFont>
    <p:embeddedFont>
      <p:font typeface="Glacial Indifference" charset="1" panose="00000000000000000000"/>
      <p:regular r:id="rId30"/>
    </p:embeddedFont>
    <p:embeddedFont>
      <p:font typeface="Pacifico" charset="1" panose="00000500000000000000"/>
      <p:regular r:id="rId31"/>
    </p:embeddedFont>
    <p:embeddedFont>
      <p:font typeface="Codec Pro" charset="1" panose="00000500000000000000"/>
      <p:regular r:id="rId32"/>
    </p:embeddedFont>
    <p:embeddedFont>
      <p:font typeface="Glacial Indifference Bold" charset="1" panose="00000800000000000000"/>
      <p:regular r:id="rId33"/>
    </p:embeddedFont>
    <p:embeddedFont>
      <p:font typeface="Impact" charset="1" panose="020B0806030902050204"/>
      <p:regular r:id="rId34"/>
    </p:embeddedFont>
    <p:embeddedFont>
      <p:font typeface="Libre Franklin Bold" charset="1" panose="00000000000000000000"/>
      <p:regular r:id="rId35"/>
    </p:embeddedFont>
    <p:embeddedFont>
      <p:font typeface="Libre Franklin" charset="1" panose="000000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30.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3.png" Type="http://schemas.openxmlformats.org/officeDocument/2006/relationships/image"/><Relationship Id="rId4" Target="../media/image36.png" Type="http://schemas.openxmlformats.org/officeDocument/2006/relationships/image"/><Relationship Id="rId5" Target="https://joinmyquiz.com"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3.png" Type="http://schemas.openxmlformats.org/officeDocument/2006/relationships/image"/><Relationship Id="rId5" Target="../media/image3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joinmyquiz.com" TargetMode="External" Type="http://schemas.openxmlformats.org/officeDocument/2006/relationships/hyperlink"/><Relationship Id="rId4" Target="../media/image38.png" Type="http://schemas.openxmlformats.org/officeDocument/2006/relationships/image"/><Relationship Id="rId5"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56301" cy="10287000"/>
            <a:chOff x="0" y="0"/>
            <a:chExt cx="24341734" cy="13716000"/>
          </a:xfrm>
        </p:grpSpPr>
        <p:sp>
          <p:nvSpPr>
            <p:cNvPr name="Freeform 3" id="3"/>
            <p:cNvSpPr/>
            <p:nvPr/>
          </p:nvSpPr>
          <p:spPr>
            <a:xfrm flipH="false" flipV="false" rot="0">
              <a:off x="0" y="0"/>
              <a:ext cx="24341710" cy="13716000"/>
            </a:xfrm>
            <a:custGeom>
              <a:avLst/>
              <a:gdLst/>
              <a:ahLst/>
              <a:cxnLst/>
              <a:rect r="r" b="b" t="t" l="l"/>
              <a:pathLst>
                <a:path h="13716000" w="24341710">
                  <a:moveTo>
                    <a:pt x="0" y="0"/>
                  </a:moveTo>
                  <a:lnTo>
                    <a:pt x="24341710" y="0"/>
                  </a:lnTo>
                  <a:lnTo>
                    <a:pt x="24341710" y="13716000"/>
                  </a:lnTo>
                  <a:lnTo>
                    <a:pt x="0" y="13716000"/>
                  </a:lnTo>
                  <a:lnTo>
                    <a:pt x="0" y="0"/>
                  </a:lnTo>
                  <a:close/>
                </a:path>
              </a:pathLst>
            </a:custGeom>
            <a:blipFill>
              <a:blip r:embed="rId2"/>
              <a:stretch>
                <a:fillRect l="0" t="0" r="0" b="0"/>
              </a:stretch>
            </a:blipFill>
          </p:spPr>
        </p:sp>
      </p:grpSp>
      <p:graphicFrame>
        <p:nvGraphicFramePr>
          <p:cNvPr name="Table 4" id="4"/>
          <p:cNvGraphicFramePr>
            <a:graphicFrameLocks noGrp="true"/>
          </p:cNvGraphicFramePr>
          <p:nvPr/>
        </p:nvGraphicFramePr>
        <p:xfrm>
          <a:off x="10185725" y="2334100"/>
          <a:ext cx="7378700" cy="1590675"/>
        </p:xfrm>
        <a:graphic>
          <a:graphicData uri="http://schemas.openxmlformats.org/drawingml/2006/table">
            <a:tbl>
              <a:tblPr/>
              <a:tblGrid>
                <a:gridCol w="3040517"/>
                <a:gridCol w="4338183"/>
              </a:tblGrid>
              <a:tr h="795338">
                <a:tc>
                  <a:txBody>
                    <a:bodyPr anchor="t" rtlCol="false"/>
                    <a:lstStyle/>
                    <a:p>
                      <a:pPr algn="l">
                        <a:lnSpc>
                          <a:spcPts val="4001"/>
                        </a:lnSpc>
                        <a:defRPr/>
                      </a:pPr>
                      <a:r>
                        <a:rPr lang="en-US" b="true" sz="2900">
                          <a:solidFill>
                            <a:srgbClr val="000000"/>
                          </a:solidFill>
                          <a:latin typeface="Arial Bold"/>
                          <a:ea typeface="Arial Bold"/>
                          <a:cs typeface="Arial Bold"/>
                          <a:sym typeface="Arial Bold"/>
                        </a:rPr>
                        <a:t>Día, Fecha:</a:t>
                      </a:r>
                      <a:endParaRPr lang="en-US" sz="1100"/>
                    </a:p>
                  </a:txBody>
                  <a:tcPr marL="91425" marR="91425" marT="91425" marB="91425" anchor="t">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marL="0" indent="0" lvl="0">
                        <a:lnSpc>
                          <a:spcPts val="4002"/>
                        </a:lnSpc>
                        <a:spcBef>
                          <a:spcPct val="0"/>
                        </a:spcBef>
                        <a:defRPr/>
                      </a:pPr>
                      <a:r>
                        <a:rPr lang="en-US" sz="2900" strike="noStrike" u="none">
                          <a:solidFill>
                            <a:srgbClr val="000000"/>
                          </a:solidFill>
                          <a:latin typeface="Arial"/>
                          <a:ea typeface="Arial"/>
                          <a:cs typeface="Arial"/>
                          <a:sym typeface="Arial"/>
                        </a:rPr>
                        <a:t>Viernes, 12/06/2026</a:t>
                      </a:r>
                      <a:endParaRPr lang="en-US" sz="1100"/>
                    </a:p>
                  </a:txBody>
                  <a:tcPr marL="91425" marR="91425" marT="91425" marB="91425" anchor="t">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95338">
                <a:tc>
                  <a:txBody>
                    <a:bodyPr anchor="t" rtlCol="false"/>
                    <a:lstStyle/>
                    <a:p>
                      <a:pPr algn="l">
                        <a:lnSpc>
                          <a:spcPts val="4001"/>
                        </a:lnSpc>
                        <a:defRPr/>
                      </a:pPr>
                      <a:r>
                        <a:rPr lang="en-US" b="true" sz="2900">
                          <a:solidFill>
                            <a:srgbClr val="000000"/>
                          </a:solidFill>
                          <a:latin typeface="Arial Bold"/>
                          <a:ea typeface="Arial Bold"/>
                          <a:cs typeface="Arial Bold"/>
                          <a:sym typeface="Arial Bold"/>
                        </a:rPr>
                        <a:t>Hora de inicio:</a:t>
                      </a:r>
                      <a:endParaRPr lang="en-US" sz="1100"/>
                    </a:p>
                  </a:txBody>
                  <a:tcPr marL="91425" marR="91425" marT="91425" marB="91425" anchor="t">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4001"/>
                        </a:lnSpc>
                        <a:defRPr/>
                      </a:pPr>
                      <a:r>
                        <a:rPr lang="en-US" sz="2900">
                          <a:solidFill>
                            <a:srgbClr val="000000"/>
                          </a:solidFill>
                          <a:latin typeface="Arial"/>
                          <a:ea typeface="Arial"/>
                          <a:cs typeface="Arial"/>
                          <a:sym typeface="Arial"/>
                        </a:rPr>
                        <a:t>12:20</a:t>
                      </a:r>
                      <a:endParaRPr lang="en-US" sz="1100"/>
                    </a:p>
                  </a:txBody>
                  <a:tcPr marL="91425" marR="91425" marT="91425" marB="91425" anchor="t">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3715179" y="4738726"/>
            <a:ext cx="10586591" cy="771525"/>
          </a:xfrm>
          <a:prstGeom prst="rect">
            <a:avLst/>
          </a:prstGeom>
        </p:spPr>
        <p:txBody>
          <a:bodyPr anchor="t" rtlCol="false" tIns="0" lIns="0" bIns="0" rIns="0">
            <a:spAutoFit/>
          </a:bodyPr>
          <a:lstStyle/>
          <a:p>
            <a:pPr algn="l">
              <a:lnSpc>
                <a:spcPts val="5999"/>
              </a:lnSpc>
            </a:pPr>
            <a:r>
              <a:rPr lang="en-US" sz="4999">
                <a:solidFill>
                  <a:srgbClr val="000000"/>
                </a:solidFill>
                <a:latin typeface="Arial"/>
                <a:ea typeface="Arial"/>
                <a:cs typeface="Arial"/>
                <a:sym typeface="Arial"/>
              </a:rPr>
              <a:t>Programación Comercial 1 Seccion N</a:t>
            </a:r>
          </a:p>
        </p:txBody>
      </p:sp>
      <p:sp>
        <p:nvSpPr>
          <p:cNvPr name="TextBox 6" id="6"/>
          <p:cNvSpPr txBox="true"/>
          <p:nvPr/>
        </p:nvSpPr>
        <p:spPr>
          <a:xfrm rot="0">
            <a:off x="3715179" y="5713647"/>
            <a:ext cx="8854678" cy="706374"/>
          </a:xfrm>
          <a:prstGeom prst="rect">
            <a:avLst/>
          </a:prstGeom>
        </p:spPr>
        <p:txBody>
          <a:bodyPr anchor="t" rtlCol="false" tIns="0" lIns="0" bIns="0" rIns="0">
            <a:spAutoFit/>
          </a:bodyPr>
          <a:lstStyle/>
          <a:p>
            <a:pPr algn="l">
              <a:lnSpc>
                <a:spcPts val="5658"/>
              </a:lnSpc>
            </a:pPr>
            <a:r>
              <a:rPr lang="en-US" sz="4100">
                <a:solidFill>
                  <a:srgbClr val="000000"/>
                </a:solidFill>
                <a:latin typeface="Arial"/>
                <a:ea typeface="Arial"/>
                <a:cs typeface="Arial"/>
                <a:sym typeface="Arial"/>
              </a:rPr>
              <a:t>Tutor: Marco Fernando Cruz Mendoza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TextBox 4" id="4"/>
          <p:cNvSpPr txBox="true"/>
          <p:nvPr/>
        </p:nvSpPr>
        <p:spPr>
          <a:xfrm rot="0">
            <a:off x="442957" y="3854852"/>
            <a:ext cx="1728747" cy="2388683"/>
          </a:xfrm>
          <a:prstGeom prst="rect">
            <a:avLst/>
          </a:prstGeom>
        </p:spPr>
        <p:txBody>
          <a:bodyPr anchor="t" rtlCol="false" tIns="0" lIns="0" bIns="0" rIns="0">
            <a:spAutoFit/>
          </a:bodyPr>
          <a:lstStyle/>
          <a:p>
            <a:pPr algn="ctr">
              <a:lnSpc>
                <a:spcPts val="18616"/>
              </a:lnSpc>
            </a:pPr>
            <a:r>
              <a:rPr lang="en-US" sz="16188" spc="696">
                <a:solidFill>
                  <a:srgbClr val="FFFFFF"/>
                </a:solidFill>
                <a:latin typeface="Oswald"/>
                <a:ea typeface="Oswald"/>
                <a:cs typeface="Oswald"/>
                <a:sym typeface="Oswald"/>
              </a:rPr>
              <a:t>1</a:t>
            </a:r>
          </a:p>
        </p:txBody>
      </p:sp>
      <p:sp>
        <p:nvSpPr>
          <p:cNvPr name="AutoShape 5" id="5"/>
          <p:cNvSpPr/>
          <p:nvPr/>
        </p:nvSpPr>
        <p:spPr>
          <a:xfrm rot="0">
            <a:off x="1732555" y="5114925"/>
            <a:ext cx="439149" cy="0"/>
          </a:xfrm>
          <a:prstGeom prst="line">
            <a:avLst/>
          </a:prstGeom>
          <a:ln cap="flat" w="19050">
            <a:solidFill>
              <a:srgbClr val="FFFFFF"/>
            </a:solidFill>
            <a:prstDash val="solid"/>
            <a:headEnd type="none" len="sm" w="sm"/>
            <a:tailEnd type="none" len="sm" w="sm"/>
          </a:ln>
        </p:spPr>
      </p:sp>
      <p:grpSp>
        <p:nvGrpSpPr>
          <p:cNvPr name="Group 6" id="6"/>
          <p:cNvGrpSpPr/>
          <p:nvPr/>
        </p:nvGrpSpPr>
        <p:grpSpPr>
          <a:xfrm rot="0">
            <a:off x="14347931" y="0"/>
            <a:ext cx="3940069" cy="1173635"/>
            <a:chOff x="0" y="0"/>
            <a:chExt cx="7662253" cy="2282368"/>
          </a:xfrm>
        </p:grpSpPr>
        <p:sp>
          <p:nvSpPr>
            <p:cNvPr name="Freeform 7" id="7"/>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Freeform 8" id="8"/>
          <p:cNvSpPr/>
          <p:nvPr/>
        </p:nvSpPr>
        <p:spPr>
          <a:xfrm flipH="false" flipV="false" rot="0">
            <a:off x="15805581" y="7929932"/>
            <a:ext cx="1844645" cy="1844645"/>
          </a:xfrm>
          <a:custGeom>
            <a:avLst/>
            <a:gdLst/>
            <a:ahLst/>
            <a:cxnLst/>
            <a:rect r="r" b="b" t="t" l="l"/>
            <a:pathLst>
              <a:path h="1844645" w="1844645">
                <a:moveTo>
                  <a:pt x="0" y="0"/>
                </a:moveTo>
                <a:lnTo>
                  <a:pt x="1844645" y="0"/>
                </a:lnTo>
                <a:lnTo>
                  <a:pt x="1844645" y="1844645"/>
                </a:lnTo>
                <a:lnTo>
                  <a:pt x="0" y="18446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413184" y="4223785"/>
            <a:ext cx="12318716" cy="117475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SESIÓN DIAGNÓSTICO</a:t>
            </a:r>
          </a:p>
        </p:txBody>
      </p:sp>
      <p:sp>
        <p:nvSpPr>
          <p:cNvPr name="TextBox 10" id="10"/>
          <p:cNvSpPr txBox="true"/>
          <p:nvPr/>
        </p:nvSpPr>
        <p:spPr>
          <a:xfrm rot="0">
            <a:off x="1063304" y="8275040"/>
            <a:ext cx="6981377" cy="536572"/>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Escuela de Ingenieria de Ciencias Y Sistemas</a:t>
            </a:r>
          </a:p>
        </p:txBody>
      </p:sp>
      <p:sp>
        <p:nvSpPr>
          <p:cNvPr name="TextBox 11" id="11"/>
          <p:cNvSpPr txBox="true"/>
          <p:nvPr/>
        </p:nvSpPr>
        <p:spPr>
          <a:xfrm rot="0">
            <a:off x="1063304" y="8737955"/>
            <a:ext cx="6667500" cy="536572"/>
          </a:xfrm>
          <a:prstGeom prst="rect">
            <a:avLst/>
          </a:prstGeom>
        </p:spPr>
        <p:txBody>
          <a:bodyPr anchor="t" rtlCol="false" tIns="0" lIns="0" bIns="0" rIns="0">
            <a:spAutoFit/>
          </a:bodyPr>
          <a:lstStyle/>
          <a:p>
            <a:pPr algn="l">
              <a:lnSpc>
                <a:spcPts val="4198"/>
              </a:lnSpc>
            </a:pPr>
            <a:r>
              <a:rPr lang="en-US" b="true" sz="2499">
                <a:solidFill>
                  <a:srgbClr val="FFFFFF"/>
                </a:solidFill>
                <a:latin typeface="Open Sans Bold"/>
                <a:ea typeface="Open Sans Bold"/>
                <a:cs typeface="Open Sans Bold"/>
                <a:sym typeface="Open Sans Bold"/>
              </a:rPr>
              <a:t>Facultad de Ingenieria</a:t>
            </a:r>
          </a:p>
        </p:txBody>
      </p:sp>
      <p:sp>
        <p:nvSpPr>
          <p:cNvPr name="TextBox 12" id="12"/>
          <p:cNvSpPr txBox="true"/>
          <p:nvPr/>
        </p:nvSpPr>
        <p:spPr>
          <a:xfrm rot="0">
            <a:off x="228600" y="9181801"/>
            <a:ext cx="8115300" cy="533648"/>
          </a:xfrm>
          <a:prstGeom prst="rect">
            <a:avLst/>
          </a:prstGeom>
        </p:spPr>
        <p:txBody>
          <a:bodyPr anchor="t" rtlCol="false" tIns="0" lIns="0" bIns="0" rIns="0">
            <a:spAutoFit/>
          </a:bodyPr>
          <a:lstStyle/>
          <a:p>
            <a:pPr algn="ctr">
              <a:lnSpc>
                <a:spcPts val="4198"/>
              </a:lnSpc>
            </a:pPr>
            <a:r>
              <a:rPr lang="en-US" b="true" sz="2499">
                <a:solidFill>
                  <a:srgbClr val="FFFFFF"/>
                </a:solidFill>
                <a:latin typeface="Open Sans Bold"/>
                <a:ea typeface="Open Sans Bold"/>
                <a:cs typeface="Open Sans Bold"/>
                <a:sym typeface="Open Sans Bold"/>
              </a:rPr>
              <a:t>Universidad de San Carlos de Guatemala</a:t>
            </a:r>
          </a:p>
        </p:txBody>
      </p:sp>
      <p:sp>
        <p:nvSpPr>
          <p:cNvPr name="TextBox 13" id="13"/>
          <p:cNvSpPr txBox="true"/>
          <p:nvPr/>
        </p:nvSpPr>
        <p:spPr>
          <a:xfrm rot="0">
            <a:off x="2416608" y="5525600"/>
            <a:ext cx="6727392" cy="571501"/>
          </a:xfrm>
          <a:prstGeom prst="rect">
            <a:avLst/>
          </a:prstGeom>
        </p:spPr>
        <p:txBody>
          <a:bodyPr anchor="t" rtlCol="false" tIns="0" lIns="0" bIns="0" rIns="0">
            <a:spAutoFit/>
          </a:bodyPr>
          <a:lstStyle/>
          <a:p>
            <a:pPr algn="ctr">
              <a:lnSpc>
                <a:spcPts val="4784"/>
              </a:lnSpc>
              <a:spcBef>
                <a:spcPct val="0"/>
              </a:spcBef>
            </a:pPr>
            <a:r>
              <a:rPr lang="en-US" sz="3299" spc="310">
                <a:solidFill>
                  <a:srgbClr val="FFFFFF"/>
                </a:solidFill>
                <a:latin typeface="Glacial Indifference"/>
                <a:ea typeface="Glacial Indifference"/>
                <a:cs typeface="Glacial Indifference"/>
                <a:sym typeface="Glacial Indifference"/>
              </a:rPr>
              <a:t>PROGRAMACIÓN COMERCIAL 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5400000">
            <a:off x="2410379" y="4056483"/>
            <a:ext cx="8122491"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0">
            <a:off x="6334823" y="2164509"/>
            <a:ext cx="264078" cy="2640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6" id="6"/>
          <p:cNvGrpSpPr/>
          <p:nvPr/>
        </p:nvGrpSpPr>
        <p:grpSpPr>
          <a:xfrm rot="0">
            <a:off x="6334823" y="3447449"/>
            <a:ext cx="264078" cy="2640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9" id="9"/>
          <p:cNvGrpSpPr/>
          <p:nvPr/>
        </p:nvGrpSpPr>
        <p:grpSpPr>
          <a:xfrm rot="0">
            <a:off x="6344348" y="4730389"/>
            <a:ext cx="264078" cy="26407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12" id="12"/>
          <p:cNvGrpSpPr/>
          <p:nvPr/>
        </p:nvGrpSpPr>
        <p:grpSpPr>
          <a:xfrm rot="0">
            <a:off x="6334823" y="6013329"/>
            <a:ext cx="264078" cy="26407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15" id="15"/>
          <p:cNvGrpSpPr/>
          <p:nvPr/>
        </p:nvGrpSpPr>
        <p:grpSpPr>
          <a:xfrm rot="0">
            <a:off x="6339586" y="7296269"/>
            <a:ext cx="264078" cy="26407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sp>
        <p:nvSpPr>
          <p:cNvPr name="Freeform 18" id="18"/>
          <p:cNvSpPr/>
          <p:nvPr/>
        </p:nvSpPr>
        <p:spPr>
          <a:xfrm flipH="false" flipV="false" rot="0">
            <a:off x="12880707" y="2002287"/>
            <a:ext cx="948862" cy="702158"/>
          </a:xfrm>
          <a:custGeom>
            <a:avLst/>
            <a:gdLst/>
            <a:ahLst/>
            <a:cxnLst/>
            <a:rect r="r" b="b" t="t" l="l"/>
            <a:pathLst>
              <a:path h="702158" w="948862">
                <a:moveTo>
                  <a:pt x="0" y="0"/>
                </a:moveTo>
                <a:lnTo>
                  <a:pt x="948862" y="0"/>
                </a:lnTo>
                <a:lnTo>
                  <a:pt x="948862" y="702158"/>
                </a:lnTo>
                <a:lnTo>
                  <a:pt x="0" y="702158"/>
                </a:lnTo>
                <a:lnTo>
                  <a:pt x="0" y="0"/>
                </a:lnTo>
                <a:close/>
              </a:path>
            </a:pathLst>
          </a:custGeom>
          <a:blipFill>
            <a:blip r:embed="rId2"/>
            <a:stretch>
              <a:fillRect l="0" t="0" r="0" b="0"/>
            </a:stretch>
          </a:blipFill>
        </p:spPr>
      </p:sp>
      <p:sp>
        <p:nvSpPr>
          <p:cNvPr name="Freeform 19" id="19"/>
          <p:cNvSpPr/>
          <p:nvPr/>
        </p:nvSpPr>
        <p:spPr>
          <a:xfrm flipH="false" flipV="false" rot="0">
            <a:off x="13050730" y="3220860"/>
            <a:ext cx="608817" cy="830892"/>
          </a:xfrm>
          <a:custGeom>
            <a:avLst/>
            <a:gdLst/>
            <a:ahLst/>
            <a:cxnLst/>
            <a:rect r="r" b="b" t="t" l="l"/>
            <a:pathLst>
              <a:path h="830892" w="608817">
                <a:moveTo>
                  <a:pt x="0" y="0"/>
                </a:moveTo>
                <a:lnTo>
                  <a:pt x="608817" y="0"/>
                </a:lnTo>
                <a:lnTo>
                  <a:pt x="608817" y="830892"/>
                </a:lnTo>
                <a:lnTo>
                  <a:pt x="0" y="8308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6824213" y="2097778"/>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AVISOS GENERALES</a:t>
            </a:r>
          </a:p>
        </p:txBody>
      </p:sp>
      <p:sp>
        <p:nvSpPr>
          <p:cNvPr name="TextBox 21" id="21"/>
          <p:cNvSpPr txBox="true"/>
          <p:nvPr/>
        </p:nvSpPr>
        <p:spPr>
          <a:xfrm rot="0">
            <a:off x="6824213" y="3380718"/>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PRESENTACION PERSONAL</a:t>
            </a:r>
          </a:p>
        </p:txBody>
      </p:sp>
      <p:sp>
        <p:nvSpPr>
          <p:cNvPr name="TextBox 22" id="22"/>
          <p:cNvSpPr txBox="true"/>
          <p:nvPr/>
        </p:nvSpPr>
        <p:spPr>
          <a:xfrm rot="0">
            <a:off x="6824213" y="6021819"/>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LECTURA PROGRAMA DEL CURSO</a:t>
            </a:r>
          </a:p>
        </p:txBody>
      </p:sp>
      <p:sp>
        <p:nvSpPr>
          <p:cNvPr name="TextBox 23" id="23"/>
          <p:cNvSpPr txBox="true"/>
          <p:nvPr/>
        </p:nvSpPr>
        <p:spPr>
          <a:xfrm rot="0">
            <a:off x="6824213" y="4606841"/>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ACTIVIDAD DE CLASE DIAGNOSTICO</a:t>
            </a:r>
          </a:p>
        </p:txBody>
      </p:sp>
      <p:sp>
        <p:nvSpPr>
          <p:cNvPr name="TextBox 24" id="24"/>
          <p:cNvSpPr txBox="true"/>
          <p:nvPr/>
        </p:nvSpPr>
        <p:spPr>
          <a:xfrm rot="0">
            <a:off x="6824213" y="7229538"/>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TAREA DE FORTALECIMIENTO</a:t>
            </a:r>
          </a:p>
        </p:txBody>
      </p:sp>
      <p:sp>
        <p:nvSpPr>
          <p:cNvPr name="TextBox 25" id="25"/>
          <p:cNvSpPr txBox="true"/>
          <p:nvPr/>
        </p:nvSpPr>
        <p:spPr>
          <a:xfrm rot="0">
            <a:off x="0" y="2585750"/>
            <a:ext cx="7710297" cy="2566121"/>
          </a:xfrm>
          <a:prstGeom prst="rect">
            <a:avLst/>
          </a:prstGeom>
        </p:spPr>
        <p:txBody>
          <a:bodyPr anchor="t" rtlCol="false" tIns="0" lIns="0" bIns="0" rIns="0">
            <a:spAutoFit/>
          </a:bodyPr>
          <a:lstStyle/>
          <a:p>
            <a:pPr algn="l">
              <a:lnSpc>
                <a:spcPts val="20699"/>
              </a:lnSpc>
            </a:pPr>
            <a:r>
              <a:rPr lang="en-US" sz="15000">
                <a:solidFill>
                  <a:srgbClr val="FFFFFF"/>
                </a:solidFill>
                <a:latin typeface="Pacifico"/>
                <a:ea typeface="Pacifico"/>
                <a:cs typeface="Pacifico"/>
                <a:sym typeface="Pacifico"/>
              </a:rPr>
              <a:t>Agenda</a:t>
            </a:r>
          </a:p>
        </p:txBody>
      </p:sp>
      <p:sp>
        <p:nvSpPr>
          <p:cNvPr name="Freeform 26" id="26"/>
          <p:cNvSpPr/>
          <p:nvPr/>
        </p:nvSpPr>
        <p:spPr>
          <a:xfrm flipH="false" flipV="false" rot="0">
            <a:off x="13050730" y="4446982"/>
            <a:ext cx="608817" cy="830892"/>
          </a:xfrm>
          <a:custGeom>
            <a:avLst/>
            <a:gdLst/>
            <a:ahLst/>
            <a:cxnLst/>
            <a:rect r="r" b="b" t="t" l="l"/>
            <a:pathLst>
              <a:path h="830892" w="608817">
                <a:moveTo>
                  <a:pt x="0" y="0"/>
                </a:moveTo>
                <a:lnTo>
                  <a:pt x="608817" y="0"/>
                </a:lnTo>
                <a:lnTo>
                  <a:pt x="608817" y="830892"/>
                </a:lnTo>
                <a:lnTo>
                  <a:pt x="0" y="8308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7" id="27"/>
          <p:cNvSpPr/>
          <p:nvPr/>
        </p:nvSpPr>
        <p:spPr>
          <a:xfrm flipH="false" flipV="false" rot="0">
            <a:off x="13050730" y="5786740"/>
            <a:ext cx="608817" cy="830892"/>
          </a:xfrm>
          <a:custGeom>
            <a:avLst/>
            <a:gdLst/>
            <a:ahLst/>
            <a:cxnLst/>
            <a:rect r="r" b="b" t="t" l="l"/>
            <a:pathLst>
              <a:path h="830892" w="608817">
                <a:moveTo>
                  <a:pt x="0" y="0"/>
                </a:moveTo>
                <a:lnTo>
                  <a:pt x="608817" y="0"/>
                </a:lnTo>
                <a:lnTo>
                  <a:pt x="608817" y="830892"/>
                </a:lnTo>
                <a:lnTo>
                  <a:pt x="0" y="8308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3050730" y="7069680"/>
            <a:ext cx="608817" cy="830892"/>
          </a:xfrm>
          <a:custGeom>
            <a:avLst/>
            <a:gdLst/>
            <a:ahLst/>
            <a:cxnLst/>
            <a:rect r="r" b="b" t="t" l="l"/>
            <a:pathLst>
              <a:path h="830892" w="608817">
                <a:moveTo>
                  <a:pt x="0" y="0"/>
                </a:moveTo>
                <a:lnTo>
                  <a:pt x="608817" y="0"/>
                </a:lnTo>
                <a:lnTo>
                  <a:pt x="608817" y="830892"/>
                </a:lnTo>
                <a:lnTo>
                  <a:pt x="0" y="8308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flipV="true">
            <a:off x="7717517" y="0"/>
            <a:ext cx="0" cy="8122491"/>
          </a:xfrm>
          <a:prstGeom prst="line">
            <a:avLst/>
          </a:prstGeom>
          <a:ln cap="flat" w="9525">
            <a:solidFill>
              <a:srgbClr val="FFFFFF"/>
            </a:solidFill>
            <a:prstDash val="solid"/>
            <a:headEnd type="none" len="sm" w="sm"/>
            <a:tailEnd type="none" len="sm" w="sm"/>
          </a:ln>
        </p:spPr>
      </p:sp>
      <p:grpSp>
        <p:nvGrpSpPr>
          <p:cNvPr name="Group 3" id="3"/>
          <p:cNvGrpSpPr/>
          <p:nvPr/>
        </p:nvGrpSpPr>
        <p:grpSpPr>
          <a:xfrm rot="0">
            <a:off x="7580716" y="2164509"/>
            <a:ext cx="264078" cy="2640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6" id="6"/>
          <p:cNvGrpSpPr/>
          <p:nvPr/>
        </p:nvGrpSpPr>
        <p:grpSpPr>
          <a:xfrm rot="0">
            <a:off x="7580716" y="3447449"/>
            <a:ext cx="264078" cy="2640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9" id="9"/>
          <p:cNvGrpSpPr/>
          <p:nvPr/>
        </p:nvGrpSpPr>
        <p:grpSpPr>
          <a:xfrm rot="0">
            <a:off x="7590241" y="4730389"/>
            <a:ext cx="264078" cy="26407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12" id="12"/>
          <p:cNvGrpSpPr/>
          <p:nvPr/>
        </p:nvGrpSpPr>
        <p:grpSpPr>
          <a:xfrm rot="0">
            <a:off x="7580716" y="6013329"/>
            <a:ext cx="264078" cy="26407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15" id="15"/>
          <p:cNvGrpSpPr/>
          <p:nvPr/>
        </p:nvGrpSpPr>
        <p:grpSpPr>
          <a:xfrm rot="0">
            <a:off x="7585478" y="7296269"/>
            <a:ext cx="264078" cy="26407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sp>
        <p:nvSpPr>
          <p:cNvPr name="TextBox 18" id="18"/>
          <p:cNvSpPr txBox="true"/>
          <p:nvPr/>
        </p:nvSpPr>
        <p:spPr>
          <a:xfrm rot="0">
            <a:off x="8070106" y="2097778"/>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UEDI</a:t>
            </a:r>
          </a:p>
        </p:txBody>
      </p:sp>
      <p:sp>
        <p:nvSpPr>
          <p:cNvPr name="TextBox 19" id="19"/>
          <p:cNvSpPr txBox="true"/>
          <p:nvPr/>
        </p:nvSpPr>
        <p:spPr>
          <a:xfrm rot="0">
            <a:off x="8070106" y="3380718"/>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CLASSROOM (TENTATIVAMENTE)</a:t>
            </a:r>
          </a:p>
        </p:txBody>
      </p:sp>
      <p:sp>
        <p:nvSpPr>
          <p:cNvPr name="TextBox 20" id="20"/>
          <p:cNvSpPr txBox="true"/>
          <p:nvPr/>
        </p:nvSpPr>
        <p:spPr>
          <a:xfrm rot="0">
            <a:off x="8070106" y="4663658"/>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FOROS</a:t>
            </a:r>
          </a:p>
        </p:txBody>
      </p:sp>
      <p:sp>
        <p:nvSpPr>
          <p:cNvPr name="TextBox 21" id="21"/>
          <p:cNvSpPr txBox="true"/>
          <p:nvPr/>
        </p:nvSpPr>
        <p:spPr>
          <a:xfrm rot="0">
            <a:off x="8070106" y="5946598"/>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LECTURAS SUGERIDAS</a:t>
            </a:r>
          </a:p>
        </p:txBody>
      </p:sp>
      <p:sp>
        <p:nvSpPr>
          <p:cNvPr name="TextBox 22" id="22"/>
          <p:cNvSpPr txBox="true"/>
          <p:nvPr/>
        </p:nvSpPr>
        <p:spPr>
          <a:xfrm rot="0">
            <a:off x="8070106" y="7229538"/>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VIDEOS</a:t>
            </a:r>
          </a:p>
        </p:txBody>
      </p:sp>
      <p:sp>
        <p:nvSpPr>
          <p:cNvPr name="TextBox 23" id="23"/>
          <p:cNvSpPr txBox="true"/>
          <p:nvPr/>
        </p:nvSpPr>
        <p:spPr>
          <a:xfrm rot="0">
            <a:off x="-6988" y="2600325"/>
            <a:ext cx="7359104" cy="2543175"/>
          </a:xfrm>
          <a:prstGeom prst="rect">
            <a:avLst/>
          </a:prstGeom>
        </p:spPr>
        <p:txBody>
          <a:bodyPr anchor="t" rtlCol="false" tIns="0" lIns="0" bIns="0" rIns="0">
            <a:spAutoFit/>
          </a:bodyPr>
          <a:lstStyle/>
          <a:p>
            <a:pPr algn="l">
              <a:lnSpc>
                <a:spcPts val="20699"/>
              </a:lnSpc>
            </a:pPr>
            <a:r>
              <a:rPr lang="en-US" sz="15000">
                <a:solidFill>
                  <a:srgbClr val="FFFFFF"/>
                </a:solidFill>
                <a:latin typeface="Pacifico"/>
                <a:ea typeface="Pacifico"/>
                <a:cs typeface="Pacifico"/>
                <a:sym typeface="Pacifico"/>
              </a:rPr>
              <a:t>Recursos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AutoShape 4" id="4"/>
          <p:cNvSpPr/>
          <p:nvPr/>
        </p:nvSpPr>
        <p:spPr>
          <a:xfrm rot="0">
            <a:off x="1732555" y="5114925"/>
            <a:ext cx="439149" cy="0"/>
          </a:xfrm>
          <a:prstGeom prst="line">
            <a:avLst/>
          </a:prstGeom>
          <a:ln cap="flat" w="19050">
            <a:solidFill>
              <a:srgbClr val="FFFFFF"/>
            </a:solidFill>
            <a:prstDash val="solid"/>
            <a:headEnd type="none" len="sm" w="sm"/>
            <a:tailEnd type="none" len="sm" w="sm"/>
          </a:ln>
        </p:spPr>
      </p:sp>
      <p:grpSp>
        <p:nvGrpSpPr>
          <p:cNvPr name="Group 5" id="5"/>
          <p:cNvGrpSpPr/>
          <p:nvPr/>
        </p:nvGrpSpPr>
        <p:grpSpPr>
          <a:xfrm rot="0">
            <a:off x="14347931" y="0"/>
            <a:ext cx="3940069" cy="1173635"/>
            <a:chOff x="0" y="0"/>
            <a:chExt cx="7662253" cy="2282368"/>
          </a:xfrm>
        </p:grpSpPr>
        <p:sp>
          <p:nvSpPr>
            <p:cNvPr name="Freeform 6" id="6"/>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Freeform 7" id="7"/>
          <p:cNvSpPr/>
          <p:nvPr/>
        </p:nvSpPr>
        <p:spPr>
          <a:xfrm flipH="false" flipV="false" rot="0">
            <a:off x="111495" y="4341812"/>
            <a:ext cx="1621060" cy="1603376"/>
          </a:xfrm>
          <a:custGeom>
            <a:avLst/>
            <a:gdLst/>
            <a:ahLst/>
            <a:cxnLst/>
            <a:rect r="r" b="b" t="t" l="l"/>
            <a:pathLst>
              <a:path h="1603376" w="1621060">
                <a:moveTo>
                  <a:pt x="0" y="0"/>
                </a:moveTo>
                <a:lnTo>
                  <a:pt x="1621060" y="0"/>
                </a:lnTo>
                <a:lnTo>
                  <a:pt x="1621060" y="1603376"/>
                </a:lnTo>
                <a:lnTo>
                  <a:pt x="0" y="16033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413184" y="4575175"/>
            <a:ext cx="12318716" cy="117475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AVISOS GENERALES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54" y="4204062"/>
            <a:ext cx="18287990" cy="104306"/>
          </a:xfrm>
          <a:prstGeom prst="line">
            <a:avLst/>
          </a:prstGeom>
          <a:ln cap="flat" w="9525">
            <a:solidFill>
              <a:srgbClr val="A6A6A6"/>
            </a:solidFill>
            <a:prstDash val="solid"/>
            <a:headEnd type="none" len="sm" w="sm"/>
            <a:tailEnd type="none" len="sm" w="sm"/>
          </a:ln>
        </p:spPr>
      </p:sp>
      <p:sp>
        <p:nvSpPr>
          <p:cNvPr name="AutoShape 3" id="3"/>
          <p:cNvSpPr/>
          <p:nvPr/>
        </p:nvSpPr>
        <p:spPr>
          <a:xfrm>
            <a:off x="27" y="8365025"/>
            <a:ext cx="18287990" cy="104306"/>
          </a:xfrm>
          <a:prstGeom prst="line">
            <a:avLst/>
          </a:prstGeom>
          <a:ln cap="flat" w="9525">
            <a:solidFill>
              <a:srgbClr val="A6A6A6"/>
            </a:solidFill>
            <a:prstDash val="solid"/>
            <a:headEnd type="none" len="sm" w="sm"/>
            <a:tailEnd type="none" len="sm" w="sm"/>
          </a:ln>
        </p:spPr>
      </p:sp>
      <p:sp>
        <p:nvSpPr>
          <p:cNvPr name="AutoShape 4" id="4"/>
          <p:cNvSpPr/>
          <p:nvPr/>
        </p:nvSpPr>
        <p:spPr>
          <a:xfrm flipH="true" flipV="true">
            <a:off x="6092215" y="4256249"/>
            <a:ext cx="16171" cy="4160941"/>
          </a:xfrm>
          <a:prstGeom prst="line">
            <a:avLst/>
          </a:prstGeom>
          <a:ln cap="flat" w="9525">
            <a:solidFill>
              <a:srgbClr val="A6A6A6"/>
            </a:solidFill>
            <a:prstDash val="solid"/>
            <a:headEnd type="none" len="sm" w="sm"/>
            <a:tailEnd type="none" len="sm" w="sm"/>
          </a:ln>
        </p:spPr>
      </p:sp>
      <p:sp>
        <p:nvSpPr>
          <p:cNvPr name="AutoShape 5" id="5"/>
          <p:cNvSpPr/>
          <p:nvPr/>
        </p:nvSpPr>
        <p:spPr>
          <a:xfrm flipH="true" flipV="true">
            <a:off x="12179641" y="4256249"/>
            <a:ext cx="16171" cy="4160941"/>
          </a:xfrm>
          <a:prstGeom prst="line">
            <a:avLst/>
          </a:prstGeom>
          <a:ln cap="flat" w="9525">
            <a:solidFill>
              <a:srgbClr val="A6A6A6"/>
            </a:solidFill>
            <a:prstDash val="solid"/>
            <a:headEnd type="none" len="sm" w="sm"/>
            <a:tailEnd type="none" len="sm" w="sm"/>
          </a:ln>
        </p:spPr>
      </p:sp>
      <p:grpSp>
        <p:nvGrpSpPr>
          <p:cNvPr name="Group 6" id="6"/>
          <p:cNvGrpSpPr/>
          <p:nvPr/>
        </p:nvGrpSpPr>
        <p:grpSpPr>
          <a:xfrm rot="0">
            <a:off x="27" y="696725"/>
            <a:ext cx="9144022" cy="2106503"/>
            <a:chOff x="0" y="0"/>
            <a:chExt cx="2408302" cy="554799"/>
          </a:xfrm>
        </p:grpSpPr>
        <p:sp>
          <p:nvSpPr>
            <p:cNvPr name="Freeform 7" id="7"/>
            <p:cNvSpPr/>
            <p:nvPr/>
          </p:nvSpPr>
          <p:spPr>
            <a:xfrm flipH="false" flipV="false" rot="0">
              <a:off x="0" y="0"/>
              <a:ext cx="2408302" cy="554799"/>
            </a:xfrm>
            <a:custGeom>
              <a:avLst/>
              <a:gdLst/>
              <a:ahLst/>
              <a:cxnLst/>
              <a:rect r="r" b="b" t="t" l="l"/>
              <a:pathLst>
                <a:path h="554799" w="2408302">
                  <a:moveTo>
                    <a:pt x="2205102" y="0"/>
                  </a:moveTo>
                  <a:lnTo>
                    <a:pt x="0" y="0"/>
                  </a:lnTo>
                  <a:lnTo>
                    <a:pt x="0" y="554799"/>
                  </a:lnTo>
                  <a:lnTo>
                    <a:pt x="2205102" y="554799"/>
                  </a:lnTo>
                  <a:lnTo>
                    <a:pt x="2408302" y="277400"/>
                  </a:lnTo>
                  <a:lnTo>
                    <a:pt x="2205102" y="0"/>
                  </a:lnTo>
                  <a:close/>
                </a:path>
              </a:pathLst>
            </a:custGeom>
            <a:solidFill>
              <a:srgbClr val="D9D9D9">
                <a:alpha val="36863"/>
              </a:srgbClr>
            </a:solidFill>
          </p:spPr>
        </p:sp>
        <p:sp>
          <p:nvSpPr>
            <p:cNvPr name="TextBox 8" id="8"/>
            <p:cNvSpPr txBox="true"/>
            <p:nvPr/>
          </p:nvSpPr>
          <p:spPr>
            <a:xfrm>
              <a:off x="0" y="-66675"/>
              <a:ext cx="2294002" cy="621474"/>
            </a:xfrm>
            <a:prstGeom prst="rect">
              <a:avLst/>
            </a:prstGeom>
          </p:spPr>
          <p:txBody>
            <a:bodyPr anchor="ctr" rtlCol="false" tIns="50800" lIns="50800" bIns="50800" rIns="50800"/>
            <a:lstStyle/>
            <a:p>
              <a:pPr algn="ctr">
                <a:lnSpc>
                  <a:spcPts val="3624"/>
                </a:lnSpc>
              </a:pPr>
            </a:p>
          </p:txBody>
        </p:sp>
      </p:grpSp>
      <p:sp>
        <p:nvSpPr>
          <p:cNvPr name="Freeform 9" id="9"/>
          <p:cNvSpPr/>
          <p:nvPr/>
        </p:nvSpPr>
        <p:spPr>
          <a:xfrm flipH="false" flipV="false" rot="0">
            <a:off x="15708359" y="798989"/>
            <a:ext cx="1550941" cy="2517250"/>
          </a:xfrm>
          <a:custGeom>
            <a:avLst/>
            <a:gdLst/>
            <a:ahLst/>
            <a:cxnLst/>
            <a:rect r="r" b="b" t="t" l="l"/>
            <a:pathLst>
              <a:path h="2517250" w="1550941">
                <a:moveTo>
                  <a:pt x="0" y="0"/>
                </a:moveTo>
                <a:lnTo>
                  <a:pt x="1550941" y="0"/>
                </a:lnTo>
                <a:lnTo>
                  <a:pt x="1550941" y="2517249"/>
                </a:lnTo>
                <a:lnTo>
                  <a:pt x="0" y="2517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427543" y="5033993"/>
            <a:ext cx="5433013" cy="2871797"/>
            <a:chOff x="0" y="0"/>
            <a:chExt cx="7244018" cy="3829063"/>
          </a:xfrm>
        </p:grpSpPr>
        <p:sp>
          <p:nvSpPr>
            <p:cNvPr name="TextBox 11" id="11"/>
            <p:cNvSpPr txBox="true"/>
            <p:nvPr/>
          </p:nvSpPr>
          <p:spPr>
            <a:xfrm rot="0">
              <a:off x="0" y="19050"/>
              <a:ext cx="7244018" cy="946447"/>
            </a:xfrm>
            <a:prstGeom prst="rect">
              <a:avLst/>
            </a:prstGeom>
          </p:spPr>
          <p:txBody>
            <a:bodyPr anchor="t" rtlCol="false" tIns="0" lIns="0" bIns="0" rIns="0">
              <a:spAutoFit/>
            </a:bodyPr>
            <a:lstStyle/>
            <a:p>
              <a:pPr algn="l">
                <a:lnSpc>
                  <a:spcPts val="5510"/>
                </a:lnSpc>
              </a:pPr>
              <a:r>
                <a:rPr lang="en-US" sz="4791">
                  <a:solidFill>
                    <a:srgbClr val="000000"/>
                  </a:solidFill>
                  <a:latin typeface="Oswald"/>
                  <a:ea typeface="Oswald"/>
                  <a:cs typeface="Oswald"/>
                  <a:sym typeface="Oswald"/>
                </a:rPr>
                <a:t>Metodología</a:t>
              </a:r>
            </a:p>
          </p:txBody>
        </p:sp>
        <p:sp>
          <p:nvSpPr>
            <p:cNvPr name="TextBox 12" id="12"/>
            <p:cNvSpPr txBox="true"/>
            <p:nvPr/>
          </p:nvSpPr>
          <p:spPr>
            <a:xfrm rot="0">
              <a:off x="0" y="1775085"/>
              <a:ext cx="7244018" cy="2053978"/>
            </a:xfrm>
            <a:prstGeom prst="rect">
              <a:avLst/>
            </a:prstGeom>
          </p:spPr>
          <p:txBody>
            <a:bodyPr anchor="t" rtlCol="false" tIns="0" lIns="0" bIns="0" rIns="0">
              <a:spAutoFit/>
            </a:bodyPr>
            <a:lstStyle/>
            <a:p>
              <a:pPr algn="l">
                <a:lnSpc>
                  <a:spcPts val="2473"/>
                </a:lnSpc>
              </a:pPr>
              <a:r>
                <a:rPr lang="en-US" sz="1888" spc="37">
                  <a:solidFill>
                    <a:srgbClr val="000000"/>
                  </a:solidFill>
                  <a:latin typeface="Codec Pro"/>
                  <a:ea typeface="Codec Pro"/>
                  <a:cs typeface="Codec Pro"/>
                  <a:sym typeface="Codec Pro"/>
                </a:rPr>
                <a:t>LA METODOLOGIA A USAR A LO LARGO DEL CURSO SERA UNA COMBINACION DE APRENDIZAJE TEORICO Y PRACTICO ALTERNANDO ENTRE MODALIDAD SINCRONICA Y ASINCRONICA.</a:t>
              </a:r>
            </a:p>
          </p:txBody>
        </p:sp>
      </p:grpSp>
      <p:sp>
        <p:nvSpPr>
          <p:cNvPr name="TextBox 13" id="13"/>
          <p:cNvSpPr txBox="true"/>
          <p:nvPr/>
        </p:nvSpPr>
        <p:spPr>
          <a:xfrm rot="0">
            <a:off x="1028700" y="889678"/>
            <a:ext cx="13103867" cy="1174750"/>
          </a:xfrm>
          <a:prstGeom prst="rect">
            <a:avLst/>
          </a:prstGeom>
        </p:spPr>
        <p:txBody>
          <a:bodyPr anchor="t" rtlCol="false" tIns="0" lIns="0" bIns="0" rIns="0">
            <a:spAutoFit/>
          </a:bodyPr>
          <a:lstStyle/>
          <a:p>
            <a:pPr algn="l">
              <a:lnSpc>
                <a:spcPts val="9200"/>
              </a:lnSpc>
            </a:pPr>
            <a:r>
              <a:rPr lang="en-US" sz="8000">
                <a:solidFill>
                  <a:srgbClr val="132232"/>
                </a:solidFill>
                <a:latin typeface="Oswald"/>
                <a:ea typeface="Oswald"/>
                <a:cs typeface="Oswald"/>
                <a:sym typeface="Oswald"/>
              </a:rPr>
              <a:t>CONSIDERACIONES</a:t>
            </a:r>
          </a:p>
        </p:txBody>
      </p:sp>
      <p:sp>
        <p:nvSpPr>
          <p:cNvPr name="TextBox 14" id="14"/>
          <p:cNvSpPr txBox="true"/>
          <p:nvPr/>
        </p:nvSpPr>
        <p:spPr>
          <a:xfrm rot="0">
            <a:off x="1028700" y="2110350"/>
            <a:ext cx="7929515" cy="444500"/>
          </a:xfrm>
          <a:prstGeom prst="rect">
            <a:avLst/>
          </a:prstGeom>
        </p:spPr>
        <p:txBody>
          <a:bodyPr anchor="t" rtlCol="false" tIns="0" lIns="0" bIns="0" rIns="0">
            <a:spAutoFit/>
          </a:bodyPr>
          <a:lstStyle/>
          <a:p>
            <a:pPr algn="l">
              <a:lnSpc>
                <a:spcPts val="3624"/>
              </a:lnSpc>
            </a:pPr>
            <a:r>
              <a:rPr lang="en-US" sz="2499" spc="234">
                <a:solidFill>
                  <a:srgbClr val="132232"/>
                </a:solidFill>
                <a:latin typeface="Glacial Indifference"/>
                <a:ea typeface="Glacial Indifference"/>
                <a:cs typeface="Glacial Indifference"/>
                <a:sym typeface="Glacial Indifference"/>
              </a:rPr>
              <a:t>¿QUE DEBEMOS TENER EN CUENTA?</a:t>
            </a:r>
          </a:p>
        </p:txBody>
      </p:sp>
      <p:grpSp>
        <p:nvGrpSpPr>
          <p:cNvPr name="Group 15" id="15"/>
          <p:cNvGrpSpPr/>
          <p:nvPr/>
        </p:nvGrpSpPr>
        <p:grpSpPr>
          <a:xfrm rot="0">
            <a:off x="406789" y="5033993"/>
            <a:ext cx="5433013" cy="3165698"/>
            <a:chOff x="0" y="0"/>
            <a:chExt cx="7244018" cy="4220930"/>
          </a:xfrm>
        </p:grpSpPr>
        <p:sp>
          <p:nvSpPr>
            <p:cNvPr name="TextBox 16" id="16"/>
            <p:cNvSpPr txBox="true"/>
            <p:nvPr/>
          </p:nvSpPr>
          <p:spPr>
            <a:xfrm rot="0">
              <a:off x="0" y="19050"/>
              <a:ext cx="7244018" cy="946447"/>
            </a:xfrm>
            <a:prstGeom prst="rect">
              <a:avLst/>
            </a:prstGeom>
          </p:spPr>
          <p:txBody>
            <a:bodyPr anchor="t" rtlCol="false" tIns="0" lIns="0" bIns="0" rIns="0">
              <a:spAutoFit/>
            </a:bodyPr>
            <a:lstStyle/>
            <a:p>
              <a:pPr algn="l">
                <a:lnSpc>
                  <a:spcPts val="5510"/>
                </a:lnSpc>
              </a:pPr>
              <a:r>
                <a:rPr lang="en-US" sz="4791">
                  <a:solidFill>
                    <a:srgbClr val="000000"/>
                  </a:solidFill>
                  <a:latin typeface="Oswald"/>
                  <a:ea typeface="Oswald"/>
                  <a:cs typeface="Oswald"/>
                  <a:sym typeface="Oswald"/>
                </a:rPr>
                <a:t>Medios de comunicacion</a:t>
              </a:r>
            </a:p>
          </p:txBody>
        </p:sp>
        <p:sp>
          <p:nvSpPr>
            <p:cNvPr name="TextBox 17" id="17"/>
            <p:cNvSpPr txBox="true"/>
            <p:nvPr/>
          </p:nvSpPr>
          <p:spPr>
            <a:xfrm rot="0">
              <a:off x="0" y="1617127"/>
              <a:ext cx="7244018" cy="2603804"/>
            </a:xfrm>
            <a:prstGeom prst="rect">
              <a:avLst/>
            </a:prstGeom>
          </p:spPr>
          <p:txBody>
            <a:bodyPr anchor="t" rtlCol="false" tIns="0" lIns="0" bIns="0" rIns="0">
              <a:spAutoFit/>
            </a:bodyPr>
            <a:lstStyle/>
            <a:p>
              <a:pPr algn="l">
                <a:lnSpc>
                  <a:spcPts val="2211"/>
                </a:lnSpc>
              </a:pPr>
              <a:r>
                <a:rPr lang="en-US" sz="1688" spc="33">
                  <a:solidFill>
                    <a:srgbClr val="000000"/>
                  </a:solidFill>
                  <a:latin typeface="Codec Pro"/>
                  <a:ea typeface="Codec Pro"/>
                  <a:cs typeface="Codec Pro"/>
                  <a:sym typeface="Codec Pro"/>
                </a:rPr>
                <a:t>PARA EL CURSO DE PROGRAMACION COMERCIAL 1 SIGUIENDO LOS ESTANDARES SOLICITADOS POR ESCUELA DE SISTEMAS EL MEDIO DE COMUNICACIONA OFICIAL CON EL CUAL SE PODRAN RESOLVER DUDADAS ACERCA DEL CURSO SERA POR MEDIO DE LOS FOROS EN LA PLATAFORMA DE UEDI.</a:t>
              </a:r>
            </a:p>
          </p:txBody>
        </p:sp>
      </p:grpSp>
      <p:grpSp>
        <p:nvGrpSpPr>
          <p:cNvPr name="Group 18" id="18"/>
          <p:cNvGrpSpPr/>
          <p:nvPr/>
        </p:nvGrpSpPr>
        <p:grpSpPr>
          <a:xfrm rot="0">
            <a:off x="12514900" y="5033993"/>
            <a:ext cx="5433013" cy="3002376"/>
            <a:chOff x="0" y="0"/>
            <a:chExt cx="7244018" cy="4003168"/>
          </a:xfrm>
        </p:grpSpPr>
        <p:sp>
          <p:nvSpPr>
            <p:cNvPr name="TextBox 19" id="19"/>
            <p:cNvSpPr txBox="true"/>
            <p:nvPr/>
          </p:nvSpPr>
          <p:spPr>
            <a:xfrm rot="0">
              <a:off x="0" y="19050"/>
              <a:ext cx="7244018" cy="946447"/>
            </a:xfrm>
            <a:prstGeom prst="rect">
              <a:avLst/>
            </a:prstGeom>
          </p:spPr>
          <p:txBody>
            <a:bodyPr anchor="t" rtlCol="false" tIns="0" lIns="0" bIns="0" rIns="0">
              <a:spAutoFit/>
            </a:bodyPr>
            <a:lstStyle/>
            <a:p>
              <a:pPr algn="l">
                <a:lnSpc>
                  <a:spcPts val="5510"/>
                </a:lnSpc>
              </a:pPr>
              <a:r>
                <a:rPr lang="en-US" sz="4791">
                  <a:solidFill>
                    <a:srgbClr val="000000"/>
                  </a:solidFill>
                  <a:latin typeface="Oswald"/>
                  <a:ea typeface="Oswald"/>
                  <a:cs typeface="Oswald"/>
                  <a:sym typeface="Oswald"/>
                </a:rPr>
                <a:t>VALORES</a:t>
              </a:r>
            </a:p>
          </p:txBody>
        </p:sp>
        <p:sp>
          <p:nvSpPr>
            <p:cNvPr name="TextBox 20" id="20"/>
            <p:cNvSpPr txBox="true"/>
            <p:nvPr/>
          </p:nvSpPr>
          <p:spPr>
            <a:xfrm rot="0">
              <a:off x="0" y="1626652"/>
              <a:ext cx="7244018" cy="2376516"/>
            </a:xfrm>
            <a:prstGeom prst="rect">
              <a:avLst/>
            </a:prstGeom>
          </p:spPr>
          <p:txBody>
            <a:bodyPr anchor="t" rtlCol="false" tIns="0" lIns="0" bIns="0" rIns="0">
              <a:spAutoFit/>
            </a:bodyPr>
            <a:lstStyle/>
            <a:p>
              <a:pPr algn="l">
                <a:lnSpc>
                  <a:spcPts val="2342"/>
                </a:lnSpc>
              </a:pPr>
              <a:r>
                <a:rPr lang="en-US" sz="1788" spc="35">
                  <a:solidFill>
                    <a:srgbClr val="000000"/>
                  </a:solidFill>
                  <a:latin typeface="Codec Pro"/>
                  <a:ea typeface="Codec Pro"/>
                  <a:cs typeface="Codec Pro"/>
                  <a:sym typeface="Codec Pro"/>
                </a:rPr>
                <a:t>DURANTE LA DURACION TOTAL DEL CURSO SE RECOMIENDA ENCARECIDAMENTE A CADA ESTUDIANTE MANTENER EL RESPETO ENTRE COMPAÑEROS Y HACIA CUALQUIER AUTORIDAD QUE SE PRESENTE EN CLASE, ESTO EVITARA PROBLEMAS Y MALOS ENTENDIDOS.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AutoShape 4" id="4"/>
          <p:cNvSpPr/>
          <p:nvPr/>
        </p:nvSpPr>
        <p:spPr>
          <a:xfrm>
            <a:off x="1989238" y="5124450"/>
            <a:ext cx="439149" cy="0"/>
          </a:xfrm>
          <a:prstGeom prst="line">
            <a:avLst/>
          </a:prstGeom>
          <a:ln cap="flat" w="19050">
            <a:solidFill>
              <a:srgbClr val="FFFFFF"/>
            </a:solidFill>
            <a:prstDash val="solid"/>
            <a:headEnd type="none" len="sm" w="sm"/>
            <a:tailEnd type="none" len="sm" w="sm"/>
          </a:ln>
        </p:spPr>
      </p:sp>
      <p:grpSp>
        <p:nvGrpSpPr>
          <p:cNvPr name="Group 5" id="5"/>
          <p:cNvGrpSpPr/>
          <p:nvPr/>
        </p:nvGrpSpPr>
        <p:grpSpPr>
          <a:xfrm rot="0">
            <a:off x="14347931" y="0"/>
            <a:ext cx="3940069" cy="1173635"/>
            <a:chOff x="0" y="0"/>
            <a:chExt cx="7662253" cy="2282368"/>
          </a:xfrm>
        </p:grpSpPr>
        <p:sp>
          <p:nvSpPr>
            <p:cNvPr name="Freeform 6" id="6"/>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Freeform 7" id="7"/>
          <p:cNvSpPr/>
          <p:nvPr/>
        </p:nvSpPr>
        <p:spPr>
          <a:xfrm flipH="false" flipV="false" rot="0">
            <a:off x="169423" y="4462572"/>
            <a:ext cx="1718554" cy="1287353"/>
          </a:xfrm>
          <a:custGeom>
            <a:avLst/>
            <a:gdLst/>
            <a:ahLst/>
            <a:cxnLst/>
            <a:rect r="r" b="b" t="t" l="l"/>
            <a:pathLst>
              <a:path h="1287353" w="1718554">
                <a:moveTo>
                  <a:pt x="0" y="0"/>
                </a:moveTo>
                <a:lnTo>
                  <a:pt x="1718554" y="0"/>
                </a:lnTo>
                <a:lnTo>
                  <a:pt x="1718554" y="1287353"/>
                </a:lnTo>
                <a:lnTo>
                  <a:pt x="0" y="12873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4827737" y="1655391"/>
            <a:ext cx="764116" cy="764116"/>
          </a:xfrm>
          <a:custGeom>
            <a:avLst/>
            <a:gdLst/>
            <a:ahLst/>
            <a:cxnLst/>
            <a:rect r="r" b="b" t="t" l="l"/>
            <a:pathLst>
              <a:path h="764116" w="764116">
                <a:moveTo>
                  <a:pt x="0" y="0"/>
                </a:moveTo>
                <a:lnTo>
                  <a:pt x="764116" y="0"/>
                </a:lnTo>
                <a:lnTo>
                  <a:pt x="764116" y="764116"/>
                </a:lnTo>
                <a:lnTo>
                  <a:pt x="0" y="764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669866" y="4575175"/>
            <a:ext cx="12318716" cy="117475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PRESENTACION PERSONAL</a:t>
            </a:r>
          </a:p>
        </p:txBody>
      </p:sp>
      <p:sp>
        <p:nvSpPr>
          <p:cNvPr name="TextBox 10" id="10"/>
          <p:cNvSpPr txBox="true"/>
          <p:nvPr/>
        </p:nvSpPr>
        <p:spPr>
          <a:xfrm rot="0">
            <a:off x="15748861" y="1781862"/>
            <a:ext cx="2319787"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10 MINUTOS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117043">
            <a:off x="-1403662" y="-2197567"/>
            <a:ext cx="6395324" cy="6395324"/>
          </a:xfrm>
          <a:custGeom>
            <a:avLst/>
            <a:gdLst/>
            <a:ahLst/>
            <a:cxnLst/>
            <a:rect r="r" b="b" t="t" l="l"/>
            <a:pathLst>
              <a:path h="6395324" w="6395324">
                <a:moveTo>
                  <a:pt x="0" y="0"/>
                </a:moveTo>
                <a:lnTo>
                  <a:pt x="6395324" y="0"/>
                </a:lnTo>
                <a:lnTo>
                  <a:pt x="6395324" y="6395324"/>
                </a:lnTo>
                <a:lnTo>
                  <a:pt x="0" y="63953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2929" y="654130"/>
            <a:ext cx="9681143" cy="2041841"/>
          </a:xfrm>
          <a:custGeom>
            <a:avLst/>
            <a:gdLst/>
            <a:ahLst/>
            <a:cxnLst/>
            <a:rect r="r" b="b" t="t" l="l"/>
            <a:pathLst>
              <a:path h="2041841" w="9681143">
                <a:moveTo>
                  <a:pt x="0" y="0"/>
                </a:moveTo>
                <a:lnTo>
                  <a:pt x="9681144" y="0"/>
                </a:lnTo>
                <a:lnTo>
                  <a:pt x="9681144" y="2041841"/>
                </a:lnTo>
                <a:lnTo>
                  <a:pt x="0" y="20418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46920" y="862646"/>
            <a:ext cx="1833325" cy="1833325"/>
          </a:xfrm>
          <a:custGeom>
            <a:avLst/>
            <a:gdLst/>
            <a:ahLst/>
            <a:cxnLst/>
            <a:rect r="r" b="b" t="t" l="l"/>
            <a:pathLst>
              <a:path h="1833325" w="1833325">
                <a:moveTo>
                  <a:pt x="0" y="0"/>
                </a:moveTo>
                <a:lnTo>
                  <a:pt x="1833325" y="0"/>
                </a:lnTo>
                <a:lnTo>
                  <a:pt x="1833325" y="1833325"/>
                </a:lnTo>
                <a:lnTo>
                  <a:pt x="0" y="18333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113955" y="4049654"/>
            <a:ext cx="10085611" cy="2049479"/>
          </a:xfrm>
          <a:custGeom>
            <a:avLst/>
            <a:gdLst/>
            <a:ahLst/>
            <a:cxnLst/>
            <a:rect r="r" b="b" t="t" l="l"/>
            <a:pathLst>
              <a:path h="2049479" w="10085611">
                <a:moveTo>
                  <a:pt x="0" y="0"/>
                </a:moveTo>
                <a:lnTo>
                  <a:pt x="10085611" y="0"/>
                </a:lnTo>
                <a:lnTo>
                  <a:pt x="10085611" y="2049479"/>
                </a:lnTo>
                <a:lnTo>
                  <a:pt x="0" y="2049479"/>
                </a:lnTo>
                <a:lnTo>
                  <a:pt x="0" y="0"/>
                </a:lnTo>
                <a:close/>
              </a:path>
            </a:pathLst>
          </a:custGeom>
          <a:blipFill>
            <a:blip r:embed="rId8"/>
            <a:stretch>
              <a:fillRect l="0" t="-239319" r="0" b="-152786"/>
            </a:stretch>
          </a:blipFill>
          <a:ln w="28575" cap="sq">
            <a:solidFill>
              <a:srgbClr val="000000"/>
            </a:solidFill>
            <a:prstDash val="sysDot"/>
            <a:miter/>
          </a:ln>
        </p:spPr>
      </p:sp>
      <p:sp>
        <p:nvSpPr>
          <p:cNvPr name="Freeform 6" id="6"/>
          <p:cNvSpPr/>
          <p:nvPr/>
        </p:nvSpPr>
        <p:spPr>
          <a:xfrm flipH="false" flipV="false" rot="547685">
            <a:off x="-1421067" y="7830365"/>
            <a:ext cx="11077420" cy="8229600"/>
          </a:xfrm>
          <a:custGeom>
            <a:avLst/>
            <a:gdLst/>
            <a:ahLst/>
            <a:cxnLst/>
            <a:rect r="r" b="b" t="t" l="l"/>
            <a:pathLst>
              <a:path h="8229600" w="11077420">
                <a:moveTo>
                  <a:pt x="0" y="0"/>
                </a:moveTo>
                <a:lnTo>
                  <a:pt x="11077420" y="0"/>
                </a:lnTo>
                <a:lnTo>
                  <a:pt x="11077420" y="8229600"/>
                </a:lnTo>
                <a:lnTo>
                  <a:pt x="0" y="8229600"/>
                </a:lnTo>
                <a:lnTo>
                  <a:pt x="0" y="0"/>
                </a:lnTo>
                <a:close/>
              </a:path>
            </a:pathLst>
          </a:custGeom>
          <a:blipFill>
            <a:blip r:embed="rId9"/>
            <a:stretch>
              <a:fillRect l="0" t="0" r="0" b="0"/>
            </a:stretch>
          </a:blipFill>
        </p:spPr>
      </p:sp>
      <p:sp>
        <p:nvSpPr>
          <p:cNvPr name="Freeform 7" id="7"/>
          <p:cNvSpPr/>
          <p:nvPr/>
        </p:nvSpPr>
        <p:spPr>
          <a:xfrm flipH="false" flipV="false" rot="0">
            <a:off x="3113955" y="6808367"/>
            <a:ext cx="10085611" cy="2325906"/>
          </a:xfrm>
          <a:custGeom>
            <a:avLst/>
            <a:gdLst/>
            <a:ahLst/>
            <a:cxnLst/>
            <a:rect r="r" b="b" t="t" l="l"/>
            <a:pathLst>
              <a:path h="2325906" w="10085611">
                <a:moveTo>
                  <a:pt x="0" y="0"/>
                </a:moveTo>
                <a:lnTo>
                  <a:pt x="10085611" y="0"/>
                </a:lnTo>
                <a:lnTo>
                  <a:pt x="10085611" y="2325906"/>
                </a:lnTo>
                <a:lnTo>
                  <a:pt x="0" y="2325906"/>
                </a:lnTo>
                <a:lnTo>
                  <a:pt x="0" y="0"/>
                </a:lnTo>
                <a:close/>
              </a:path>
            </a:pathLst>
          </a:custGeom>
          <a:blipFill>
            <a:blip r:embed="rId8"/>
            <a:stretch>
              <a:fillRect l="-2406" t="-354495" r="-2406" b="0"/>
            </a:stretch>
          </a:blipFill>
          <a:ln w="28575" cap="sq">
            <a:solidFill>
              <a:srgbClr val="000000"/>
            </a:solidFill>
            <a:prstDash val="sysDot"/>
            <a:miter/>
          </a:ln>
        </p:spPr>
      </p:sp>
      <p:sp>
        <p:nvSpPr>
          <p:cNvPr name="Freeform 8" id="8"/>
          <p:cNvSpPr/>
          <p:nvPr/>
        </p:nvSpPr>
        <p:spPr>
          <a:xfrm flipH="false" flipV="false" rot="0">
            <a:off x="1794000" y="6250688"/>
            <a:ext cx="1932946" cy="1743166"/>
          </a:xfrm>
          <a:custGeom>
            <a:avLst/>
            <a:gdLst/>
            <a:ahLst/>
            <a:cxnLst/>
            <a:rect r="r" b="b" t="t" l="l"/>
            <a:pathLst>
              <a:path h="1743166" w="1932946">
                <a:moveTo>
                  <a:pt x="0" y="0"/>
                </a:moveTo>
                <a:lnTo>
                  <a:pt x="1932946" y="0"/>
                </a:lnTo>
                <a:lnTo>
                  <a:pt x="1932946" y="1743166"/>
                </a:lnTo>
                <a:lnTo>
                  <a:pt x="0" y="17431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763482">
            <a:off x="12506006" y="3600731"/>
            <a:ext cx="1387119" cy="897845"/>
          </a:xfrm>
          <a:custGeom>
            <a:avLst/>
            <a:gdLst/>
            <a:ahLst/>
            <a:cxnLst/>
            <a:rect r="r" b="b" t="t" l="l"/>
            <a:pathLst>
              <a:path h="897845" w="1387119">
                <a:moveTo>
                  <a:pt x="0" y="0"/>
                </a:moveTo>
                <a:lnTo>
                  <a:pt x="1387119" y="0"/>
                </a:lnTo>
                <a:lnTo>
                  <a:pt x="1387119" y="897845"/>
                </a:lnTo>
                <a:lnTo>
                  <a:pt x="0" y="89784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3156090">
            <a:off x="14643170" y="5304803"/>
            <a:ext cx="7289661" cy="6243676"/>
          </a:xfrm>
          <a:custGeom>
            <a:avLst/>
            <a:gdLst/>
            <a:ahLst/>
            <a:cxnLst/>
            <a:rect r="r" b="b" t="t" l="l"/>
            <a:pathLst>
              <a:path h="6243676" w="7289661">
                <a:moveTo>
                  <a:pt x="0" y="0"/>
                </a:moveTo>
                <a:lnTo>
                  <a:pt x="7289660" y="0"/>
                </a:lnTo>
                <a:lnTo>
                  <a:pt x="7289660" y="6243677"/>
                </a:lnTo>
                <a:lnTo>
                  <a:pt x="0" y="624367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436356" y="1106725"/>
            <a:ext cx="13103867" cy="1174750"/>
          </a:xfrm>
          <a:prstGeom prst="rect">
            <a:avLst/>
          </a:prstGeom>
        </p:spPr>
        <p:txBody>
          <a:bodyPr anchor="t" rtlCol="false" tIns="0" lIns="0" bIns="0" rIns="0">
            <a:spAutoFit/>
          </a:bodyPr>
          <a:lstStyle/>
          <a:p>
            <a:pPr algn="l">
              <a:lnSpc>
                <a:spcPts val="9200"/>
              </a:lnSpc>
            </a:pPr>
            <a:r>
              <a:rPr lang="en-US" sz="8000">
                <a:solidFill>
                  <a:srgbClr val="132232"/>
                </a:solidFill>
                <a:latin typeface="Oswald"/>
                <a:ea typeface="Oswald"/>
                <a:cs typeface="Oswald"/>
                <a:sym typeface="Oswald"/>
              </a:rPr>
              <a:t>DATOS DE CONTACTO</a:t>
            </a:r>
          </a:p>
        </p:txBody>
      </p:sp>
      <p:sp>
        <p:nvSpPr>
          <p:cNvPr name="TextBox 12" id="12"/>
          <p:cNvSpPr txBox="true"/>
          <p:nvPr/>
        </p:nvSpPr>
        <p:spPr>
          <a:xfrm rot="0">
            <a:off x="1794000" y="4112416"/>
            <a:ext cx="11397424" cy="611149"/>
          </a:xfrm>
          <a:prstGeom prst="rect">
            <a:avLst/>
          </a:prstGeom>
        </p:spPr>
        <p:txBody>
          <a:bodyPr anchor="t" rtlCol="false" tIns="0" lIns="0" bIns="0" rIns="0">
            <a:spAutoFit/>
          </a:bodyPr>
          <a:lstStyle/>
          <a:p>
            <a:pPr algn="ctr">
              <a:lnSpc>
                <a:spcPts val="5206"/>
              </a:lnSpc>
            </a:pPr>
            <a:r>
              <a:rPr lang="en-US" b="true" sz="3099">
                <a:solidFill>
                  <a:srgbClr val="131416"/>
                </a:solidFill>
                <a:latin typeface="Open Sans Bold"/>
                <a:ea typeface="Open Sans Bold"/>
                <a:cs typeface="Open Sans Bold"/>
                <a:sym typeface="Open Sans Bold"/>
              </a:rPr>
              <a:t>Nombre: Marco Fernando Cruz Mendoza</a:t>
            </a:r>
          </a:p>
        </p:txBody>
      </p:sp>
      <p:sp>
        <p:nvSpPr>
          <p:cNvPr name="TextBox 13" id="13"/>
          <p:cNvSpPr txBox="true"/>
          <p:nvPr/>
        </p:nvSpPr>
        <p:spPr>
          <a:xfrm rot="0">
            <a:off x="2458048" y="5000625"/>
            <a:ext cx="11397424" cy="611149"/>
          </a:xfrm>
          <a:prstGeom prst="rect">
            <a:avLst/>
          </a:prstGeom>
        </p:spPr>
        <p:txBody>
          <a:bodyPr anchor="t" rtlCol="false" tIns="0" lIns="0" bIns="0" rIns="0">
            <a:spAutoFit/>
          </a:bodyPr>
          <a:lstStyle/>
          <a:p>
            <a:pPr algn="ctr">
              <a:lnSpc>
                <a:spcPts val="5206"/>
              </a:lnSpc>
            </a:pPr>
            <a:r>
              <a:rPr lang="en-US" b="true" sz="3099">
                <a:solidFill>
                  <a:srgbClr val="131416"/>
                </a:solidFill>
                <a:latin typeface="Open Sans Bold"/>
                <a:ea typeface="Open Sans Bold"/>
                <a:cs typeface="Open Sans Bold"/>
                <a:sym typeface="Open Sans Bold"/>
              </a:rPr>
              <a:t>Correo: 3052284550203@ingenieria.usac.edu.gt</a:t>
            </a:r>
          </a:p>
        </p:txBody>
      </p:sp>
      <p:sp>
        <p:nvSpPr>
          <p:cNvPr name="TextBox 14" id="14"/>
          <p:cNvSpPr txBox="true"/>
          <p:nvPr/>
        </p:nvSpPr>
        <p:spPr>
          <a:xfrm rot="0">
            <a:off x="3426210" y="6979396"/>
            <a:ext cx="9482179" cy="3240065"/>
          </a:xfrm>
          <a:prstGeom prst="rect">
            <a:avLst/>
          </a:prstGeom>
        </p:spPr>
        <p:txBody>
          <a:bodyPr anchor="t" rtlCol="false" tIns="0" lIns="0" bIns="0" rIns="0">
            <a:spAutoFit/>
          </a:bodyPr>
          <a:lstStyle/>
          <a:p>
            <a:pPr algn="ctr">
              <a:lnSpc>
                <a:spcPts val="5206"/>
              </a:lnSpc>
            </a:pPr>
            <a:r>
              <a:rPr lang="en-US" sz="3099" b="true">
                <a:solidFill>
                  <a:srgbClr val="131416"/>
                </a:solidFill>
                <a:latin typeface="Open Sans Bold"/>
                <a:ea typeface="Open Sans Bold"/>
                <a:cs typeface="Open Sans Bold"/>
                <a:sym typeface="Open Sans Bold"/>
              </a:rPr>
              <a:t>UEDI Foros (Medio Oficial)</a:t>
            </a:r>
          </a:p>
          <a:p>
            <a:pPr algn="ctr">
              <a:lnSpc>
                <a:spcPts val="5206"/>
              </a:lnSpc>
            </a:pPr>
            <a:r>
              <a:rPr lang="en-US" sz="3099" b="true">
                <a:solidFill>
                  <a:srgbClr val="131416"/>
                </a:solidFill>
                <a:latin typeface="Open Sans Bold"/>
                <a:ea typeface="Open Sans Bold"/>
                <a:cs typeface="Open Sans Bold"/>
                <a:sym typeface="Open Sans Bold"/>
              </a:rPr>
              <a:t>Asunto Correo: [PC1]Asunto Ejemplo: [PC1]Duda nota HT1</a:t>
            </a:r>
          </a:p>
          <a:p>
            <a:pPr algn="ctr">
              <a:lnSpc>
                <a:spcPts val="5206"/>
              </a:lnSpc>
            </a:pPr>
          </a:p>
        </p:txBody>
      </p:sp>
      <p:grpSp>
        <p:nvGrpSpPr>
          <p:cNvPr name="Group 15" id="15"/>
          <p:cNvGrpSpPr/>
          <p:nvPr/>
        </p:nvGrpSpPr>
        <p:grpSpPr>
          <a:xfrm rot="0">
            <a:off x="15461670" y="7486429"/>
            <a:ext cx="2395345" cy="1916262"/>
            <a:chOff x="0" y="0"/>
            <a:chExt cx="4323906" cy="3459099"/>
          </a:xfrm>
        </p:grpSpPr>
        <p:sp>
          <p:nvSpPr>
            <p:cNvPr name="Freeform 16" id="16"/>
            <p:cNvSpPr/>
            <p:nvPr/>
          </p:nvSpPr>
          <p:spPr>
            <a:xfrm flipH="false" flipV="false" rot="0">
              <a:off x="0" y="0"/>
              <a:ext cx="4323842" cy="3459099"/>
            </a:xfrm>
            <a:custGeom>
              <a:avLst/>
              <a:gdLst/>
              <a:ahLst/>
              <a:cxnLst/>
              <a:rect r="r" b="b" t="t" l="l"/>
              <a:pathLst>
                <a:path h="3459099" w="4323842">
                  <a:moveTo>
                    <a:pt x="0" y="0"/>
                  </a:moveTo>
                  <a:lnTo>
                    <a:pt x="4323842" y="0"/>
                  </a:lnTo>
                  <a:lnTo>
                    <a:pt x="4323842" y="3459099"/>
                  </a:lnTo>
                  <a:lnTo>
                    <a:pt x="0" y="3459099"/>
                  </a:lnTo>
                  <a:lnTo>
                    <a:pt x="0" y="0"/>
                  </a:lnTo>
                  <a:close/>
                </a:path>
              </a:pathLst>
            </a:custGeom>
            <a:blipFill>
              <a:blip r:embed="rId16"/>
              <a:stretch>
                <a:fillRect l="0" t="0" r="-1"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AutoShape 4" id="4"/>
          <p:cNvSpPr/>
          <p:nvPr/>
        </p:nvSpPr>
        <p:spPr>
          <a:xfrm>
            <a:off x="1989238" y="5124450"/>
            <a:ext cx="439149" cy="0"/>
          </a:xfrm>
          <a:prstGeom prst="line">
            <a:avLst/>
          </a:prstGeom>
          <a:ln cap="flat" w="19050">
            <a:solidFill>
              <a:srgbClr val="FFFFFF"/>
            </a:solidFill>
            <a:prstDash val="solid"/>
            <a:headEnd type="none" len="sm" w="sm"/>
            <a:tailEnd type="none" len="sm" w="sm"/>
          </a:ln>
        </p:spPr>
      </p:sp>
      <p:grpSp>
        <p:nvGrpSpPr>
          <p:cNvPr name="Group 5" id="5"/>
          <p:cNvGrpSpPr/>
          <p:nvPr/>
        </p:nvGrpSpPr>
        <p:grpSpPr>
          <a:xfrm rot="0">
            <a:off x="14347931" y="0"/>
            <a:ext cx="3940069" cy="1173635"/>
            <a:chOff x="0" y="0"/>
            <a:chExt cx="7662253" cy="2282368"/>
          </a:xfrm>
        </p:grpSpPr>
        <p:sp>
          <p:nvSpPr>
            <p:cNvPr name="Freeform 6" id="6"/>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Freeform 7" id="7"/>
          <p:cNvSpPr/>
          <p:nvPr/>
        </p:nvSpPr>
        <p:spPr>
          <a:xfrm flipH="false" flipV="false" rot="0">
            <a:off x="261813" y="4185056"/>
            <a:ext cx="1533774" cy="1878788"/>
          </a:xfrm>
          <a:custGeom>
            <a:avLst/>
            <a:gdLst/>
            <a:ahLst/>
            <a:cxnLst/>
            <a:rect r="r" b="b" t="t" l="l"/>
            <a:pathLst>
              <a:path h="1878788" w="1533774">
                <a:moveTo>
                  <a:pt x="0" y="0"/>
                </a:moveTo>
                <a:lnTo>
                  <a:pt x="1533774" y="0"/>
                </a:lnTo>
                <a:lnTo>
                  <a:pt x="1533774" y="1878788"/>
                </a:lnTo>
                <a:lnTo>
                  <a:pt x="0" y="1878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669866" y="3994150"/>
            <a:ext cx="14589434" cy="233680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ACTIVIDAD PRESENTACION DE ESTUDIANTES</a:t>
            </a:r>
          </a:p>
        </p:txBody>
      </p:sp>
      <p:sp>
        <p:nvSpPr>
          <p:cNvPr name="Freeform 9" id="9"/>
          <p:cNvSpPr/>
          <p:nvPr/>
        </p:nvSpPr>
        <p:spPr>
          <a:xfrm flipH="false" flipV="false" rot="0">
            <a:off x="14827737" y="1655391"/>
            <a:ext cx="764116" cy="764116"/>
          </a:xfrm>
          <a:custGeom>
            <a:avLst/>
            <a:gdLst/>
            <a:ahLst/>
            <a:cxnLst/>
            <a:rect r="r" b="b" t="t" l="l"/>
            <a:pathLst>
              <a:path h="764116" w="764116">
                <a:moveTo>
                  <a:pt x="0" y="0"/>
                </a:moveTo>
                <a:lnTo>
                  <a:pt x="764116" y="0"/>
                </a:lnTo>
                <a:lnTo>
                  <a:pt x="764116" y="764116"/>
                </a:lnTo>
                <a:lnTo>
                  <a:pt x="0" y="764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5748861" y="1781862"/>
            <a:ext cx="2319787"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25 MINUTOS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3279284"/>
            <a:chOff x="0" y="0"/>
            <a:chExt cx="4816593" cy="863680"/>
          </a:xfrm>
        </p:grpSpPr>
        <p:sp>
          <p:nvSpPr>
            <p:cNvPr name="Freeform 3" id="3"/>
            <p:cNvSpPr/>
            <p:nvPr/>
          </p:nvSpPr>
          <p:spPr>
            <a:xfrm flipH="false" flipV="false" rot="0">
              <a:off x="0" y="0"/>
              <a:ext cx="4816592" cy="863680"/>
            </a:xfrm>
            <a:custGeom>
              <a:avLst/>
              <a:gdLst/>
              <a:ahLst/>
              <a:cxnLst/>
              <a:rect r="r" b="b" t="t" l="l"/>
              <a:pathLst>
                <a:path h="863680" w="4816592">
                  <a:moveTo>
                    <a:pt x="0" y="0"/>
                  </a:moveTo>
                  <a:lnTo>
                    <a:pt x="4816592" y="0"/>
                  </a:lnTo>
                  <a:lnTo>
                    <a:pt x="4816592" y="863680"/>
                  </a:lnTo>
                  <a:lnTo>
                    <a:pt x="0" y="863680"/>
                  </a:lnTo>
                  <a:close/>
                </a:path>
              </a:pathLst>
            </a:custGeom>
            <a:solidFill>
              <a:srgbClr val="132232"/>
            </a:solidFill>
          </p:spPr>
        </p:sp>
        <p:sp>
          <p:nvSpPr>
            <p:cNvPr name="TextBox 4" id="4"/>
            <p:cNvSpPr txBox="true"/>
            <p:nvPr/>
          </p:nvSpPr>
          <p:spPr>
            <a:xfrm>
              <a:off x="0" y="-66675"/>
              <a:ext cx="4816593" cy="930355"/>
            </a:xfrm>
            <a:prstGeom prst="rect">
              <a:avLst/>
            </a:prstGeom>
          </p:spPr>
          <p:txBody>
            <a:bodyPr anchor="ctr" rtlCol="false" tIns="50800" lIns="50800" bIns="50800" rIns="50800"/>
            <a:lstStyle/>
            <a:p>
              <a:pPr algn="ctr">
                <a:lnSpc>
                  <a:spcPts val="3624"/>
                </a:lnSpc>
              </a:pPr>
            </a:p>
          </p:txBody>
        </p:sp>
      </p:grpSp>
      <p:sp>
        <p:nvSpPr>
          <p:cNvPr name="Freeform 5" id="5"/>
          <p:cNvSpPr/>
          <p:nvPr/>
        </p:nvSpPr>
        <p:spPr>
          <a:xfrm flipH="false" flipV="false" rot="0">
            <a:off x="10026604" y="34197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2"/>
            <a:stretch>
              <a:fillRect l="0" t="0" r="0" b="0"/>
            </a:stretch>
          </a:blipFill>
        </p:spPr>
      </p:sp>
      <p:sp>
        <p:nvSpPr>
          <p:cNvPr name="TextBox 6" id="6"/>
          <p:cNvSpPr txBox="true"/>
          <p:nvPr/>
        </p:nvSpPr>
        <p:spPr>
          <a:xfrm rot="0">
            <a:off x="630657" y="3913258"/>
            <a:ext cx="6192947" cy="727075"/>
          </a:xfrm>
          <a:prstGeom prst="rect">
            <a:avLst/>
          </a:prstGeom>
        </p:spPr>
        <p:txBody>
          <a:bodyPr anchor="t" rtlCol="false" tIns="0" lIns="0" bIns="0" rIns="0">
            <a:spAutoFit/>
          </a:bodyPr>
          <a:lstStyle/>
          <a:p>
            <a:pPr algn="ctr">
              <a:lnSpc>
                <a:spcPts val="2900"/>
              </a:lnSpc>
            </a:pPr>
            <a:r>
              <a:rPr lang="en-US" sz="2000" spc="188">
                <a:solidFill>
                  <a:srgbClr val="000000"/>
                </a:solidFill>
                <a:latin typeface="Glacial Indifference"/>
                <a:ea typeface="Glacial Indifference"/>
                <a:cs typeface="Glacial Indifference"/>
                <a:sym typeface="Glacial Indifference"/>
              </a:rPr>
              <a:t>INGRESAR A:</a:t>
            </a:r>
          </a:p>
          <a:p>
            <a:pPr algn="ctr">
              <a:lnSpc>
                <a:spcPts val="2900"/>
              </a:lnSpc>
            </a:pPr>
            <a:r>
              <a:rPr lang="en-US" b="true" sz="2000" spc="188">
                <a:solidFill>
                  <a:srgbClr val="000000"/>
                </a:solidFill>
                <a:latin typeface="Glacial Indifference Bold"/>
                <a:ea typeface="Glacial Indifference Bold"/>
                <a:cs typeface="Glacial Indifference Bold"/>
                <a:sym typeface="Glacial Indifference Bold"/>
              </a:rPr>
              <a:t>HTTPS://WHEELOFNAMES.COM/</a:t>
            </a:r>
          </a:p>
        </p:txBody>
      </p:sp>
      <p:sp>
        <p:nvSpPr>
          <p:cNvPr name="TextBox 7" id="7"/>
          <p:cNvSpPr txBox="true"/>
          <p:nvPr/>
        </p:nvSpPr>
        <p:spPr>
          <a:xfrm rot="0">
            <a:off x="1028700" y="1066763"/>
            <a:ext cx="13103867" cy="1174750"/>
          </a:xfrm>
          <a:prstGeom prst="rect">
            <a:avLst/>
          </a:prstGeom>
        </p:spPr>
        <p:txBody>
          <a:bodyPr anchor="t" rtlCol="false" tIns="0" lIns="0" bIns="0" rIns="0">
            <a:spAutoFit/>
          </a:bodyPr>
          <a:lstStyle/>
          <a:p>
            <a:pPr algn="l">
              <a:lnSpc>
                <a:spcPts val="9200"/>
              </a:lnSpc>
            </a:pPr>
            <a:r>
              <a:rPr lang="en-US" sz="8000">
                <a:solidFill>
                  <a:srgbClr val="FFFFFF"/>
                </a:solidFill>
                <a:latin typeface="Oswald"/>
                <a:ea typeface="Oswald"/>
                <a:cs typeface="Oswald"/>
                <a:sym typeface="Oswald"/>
              </a:rPr>
              <a:t>RULETA DE 5 NOMBRES</a:t>
            </a:r>
          </a:p>
        </p:txBody>
      </p:sp>
      <p:sp>
        <p:nvSpPr>
          <p:cNvPr name="TextBox 8" id="8"/>
          <p:cNvSpPr txBox="true"/>
          <p:nvPr/>
        </p:nvSpPr>
        <p:spPr>
          <a:xfrm rot="0">
            <a:off x="788616" y="5278508"/>
            <a:ext cx="6192947" cy="3984625"/>
          </a:xfrm>
          <a:prstGeom prst="rect">
            <a:avLst/>
          </a:prstGeom>
        </p:spPr>
        <p:txBody>
          <a:bodyPr anchor="t" rtlCol="false" tIns="0" lIns="0" bIns="0" rIns="0">
            <a:spAutoFit/>
          </a:bodyPr>
          <a:lstStyle/>
          <a:p>
            <a:pPr algn="ctr">
              <a:lnSpc>
                <a:spcPts val="2900"/>
              </a:lnSpc>
            </a:pPr>
            <a:r>
              <a:rPr lang="en-US" b="true" sz="2000" spc="188">
                <a:solidFill>
                  <a:srgbClr val="000000"/>
                </a:solidFill>
                <a:latin typeface="Glacial Indifference Bold"/>
                <a:ea typeface="Glacial Indifference Bold"/>
                <a:cs typeface="Glacial Indifference Bold"/>
                <a:sym typeface="Glacial Indifference Bold"/>
              </a:rPr>
              <a:t>EN QUE CONSISTE LA ACTIVIDAD:</a:t>
            </a:r>
          </a:p>
          <a:p>
            <a:pPr algn="l" marL="431801" indent="-215900" lvl="1">
              <a:lnSpc>
                <a:spcPts val="2900"/>
              </a:lnSpc>
              <a:buAutoNum type="arabicPeriod" startAt="1"/>
            </a:pPr>
            <a:r>
              <a:rPr lang="en-US" sz="2000" spc="188">
                <a:solidFill>
                  <a:srgbClr val="000000"/>
                </a:solidFill>
                <a:latin typeface="Glacial Indifference"/>
                <a:ea typeface="Glacial Indifference"/>
                <a:cs typeface="Glacial Indifference"/>
                <a:sym typeface="Glacial Indifference"/>
              </a:rPr>
              <a:t>EL NOMBRE DEL ALUMNO QUE SEA SELECCIONADO POR MEDIO DE LA RULETA DEBE HABILITAR SU MICROFONO Y PRESENTARSE.</a:t>
            </a:r>
          </a:p>
          <a:p>
            <a:pPr algn="l" marL="431801" indent="-215900" lvl="1">
              <a:lnSpc>
                <a:spcPts val="2900"/>
              </a:lnSpc>
              <a:buAutoNum type="arabicPeriod" startAt="1"/>
            </a:pPr>
            <a:r>
              <a:rPr lang="en-US" sz="2000" spc="188">
                <a:solidFill>
                  <a:srgbClr val="000000"/>
                </a:solidFill>
                <a:latin typeface="Glacial Indifference"/>
                <a:ea typeface="Glacial Indifference"/>
                <a:cs typeface="Glacial Indifference"/>
                <a:sym typeface="Glacial Indifference"/>
              </a:rPr>
              <a:t>EL ALUMNO SELECCIONADO POR LA RULETA DEBE DECIR QUE LE GUSTA MAS O QUE LE HA COSTADO MAS DE LA INFORMATICA O LA COMPUTACION A NIVEL GENERAL.</a:t>
            </a:r>
          </a:p>
          <a:p>
            <a:pPr algn="l" marL="431801" indent="-215900" lvl="1">
              <a:lnSpc>
                <a:spcPts val="2900"/>
              </a:lnSpc>
              <a:buAutoNum type="arabicPeriod" startAt="1"/>
            </a:pPr>
            <a:r>
              <a:rPr lang="en-US" sz="2000" spc="188">
                <a:solidFill>
                  <a:srgbClr val="000000"/>
                </a:solidFill>
                <a:latin typeface="Glacial Indifference"/>
                <a:ea typeface="Glacial Indifference"/>
                <a:cs typeface="Glacial Indifference"/>
                <a:sym typeface="Glacial Indifference"/>
              </a:rPr>
              <a:t>QUE EXPECTATIVA TIENE DEL CURSO.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AutoShape 4" id="4"/>
          <p:cNvSpPr/>
          <p:nvPr/>
        </p:nvSpPr>
        <p:spPr>
          <a:xfrm>
            <a:off x="1989238" y="5124450"/>
            <a:ext cx="439149" cy="0"/>
          </a:xfrm>
          <a:prstGeom prst="line">
            <a:avLst/>
          </a:prstGeom>
          <a:ln cap="flat" w="19050">
            <a:solidFill>
              <a:srgbClr val="FFFFFF"/>
            </a:solidFill>
            <a:prstDash val="solid"/>
            <a:headEnd type="none" len="sm" w="sm"/>
            <a:tailEnd type="none" len="sm" w="sm"/>
          </a:ln>
        </p:spPr>
      </p:sp>
      <p:grpSp>
        <p:nvGrpSpPr>
          <p:cNvPr name="Group 5" id="5"/>
          <p:cNvGrpSpPr/>
          <p:nvPr/>
        </p:nvGrpSpPr>
        <p:grpSpPr>
          <a:xfrm rot="0">
            <a:off x="14347931" y="0"/>
            <a:ext cx="3940069" cy="1173635"/>
            <a:chOff x="0" y="0"/>
            <a:chExt cx="7662253" cy="2282368"/>
          </a:xfrm>
        </p:grpSpPr>
        <p:sp>
          <p:nvSpPr>
            <p:cNvPr name="Freeform 6" id="6"/>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Freeform 7" id="7"/>
          <p:cNvSpPr/>
          <p:nvPr/>
        </p:nvSpPr>
        <p:spPr>
          <a:xfrm flipH="false" flipV="false" rot="0">
            <a:off x="174706" y="4217184"/>
            <a:ext cx="1814531" cy="1814531"/>
          </a:xfrm>
          <a:custGeom>
            <a:avLst/>
            <a:gdLst/>
            <a:ahLst/>
            <a:cxnLst/>
            <a:rect r="r" b="b" t="t" l="l"/>
            <a:pathLst>
              <a:path h="1814531" w="1814531">
                <a:moveTo>
                  <a:pt x="0" y="0"/>
                </a:moveTo>
                <a:lnTo>
                  <a:pt x="1814532" y="0"/>
                </a:lnTo>
                <a:lnTo>
                  <a:pt x="1814532" y="1814532"/>
                </a:lnTo>
                <a:lnTo>
                  <a:pt x="0" y="18145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669866" y="3994150"/>
            <a:ext cx="14589434" cy="233680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ACTIVIDAD DE CLASE DIAGNOSTICO CONOCIMIENTOS PREVIOS</a:t>
            </a:r>
          </a:p>
        </p:txBody>
      </p:sp>
      <p:sp>
        <p:nvSpPr>
          <p:cNvPr name="Freeform 9" id="9"/>
          <p:cNvSpPr/>
          <p:nvPr/>
        </p:nvSpPr>
        <p:spPr>
          <a:xfrm flipH="false" flipV="false" rot="0">
            <a:off x="14827737" y="1655391"/>
            <a:ext cx="764116" cy="764116"/>
          </a:xfrm>
          <a:custGeom>
            <a:avLst/>
            <a:gdLst/>
            <a:ahLst/>
            <a:cxnLst/>
            <a:rect r="r" b="b" t="t" l="l"/>
            <a:pathLst>
              <a:path h="764116" w="764116">
                <a:moveTo>
                  <a:pt x="0" y="0"/>
                </a:moveTo>
                <a:lnTo>
                  <a:pt x="764116" y="0"/>
                </a:lnTo>
                <a:lnTo>
                  <a:pt x="764116" y="764116"/>
                </a:lnTo>
                <a:lnTo>
                  <a:pt x="0" y="764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5748861" y="1781862"/>
            <a:ext cx="2319787"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15 MINUTOS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grpSp>
        <p:nvGrpSpPr>
          <p:cNvPr name="Group 2" id="2"/>
          <p:cNvGrpSpPr/>
          <p:nvPr/>
        </p:nvGrpSpPr>
        <p:grpSpPr>
          <a:xfrm rot="0">
            <a:off x="14347931" y="0"/>
            <a:ext cx="3940069" cy="1173635"/>
            <a:chOff x="0" y="0"/>
            <a:chExt cx="7662253" cy="2282368"/>
          </a:xfrm>
        </p:grpSpPr>
        <p:sp>
          <p:nvSpPr>
            <p:cNvPr name="Freeform 3" id="3"/>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TextBox 4" id="4"/>
          <p:cNvSpPr txBox="true"/>
          <p:nvPr/>
        </p:nvSpPr>
        <p:spPr>
          <a:xfrm rot="0">
            <a:off x="1028700" y="4505622"/>
            <a:ext cx="9726291"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PASO 2: INGRESE EL CÓDIGO DE REGISTRO</a:t>
            </a:r>
          </a:p>
        </p:txBody>
      </p:sp>
      <p:sp>
        <p:nvSpPr>
          <p:cNvPr name="TextBox 5" id="5"/>
          <p:cNvSpPr txBox="true"/>
          <p:nvPr/>
        </p:nvSpPr>
        <p:spPr>
          <a:xfrm rot="0">
            <a:off x="1700023" y="5112047"/>
            <a:ext cx="9726291"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3992 9737</a:t>
            </a:r>
          </a:p>
        </p:txBody>
      </p:sp>
      <p:sp>
        <p:nvSpPr>
          <p:cNvPr name="TextBox 6" id="6"/>
          <p:cNvSpPr txBox="true"/>
          <p:nvPr/>
        </p:nvSpPr>
        <p:spPr>
          <a:xfrm rot="0">
            <a:off x="1028700" y="6108997"/>
            <a:ext cx="9726291"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O POR MEDIO DEL LINK:</a:t>
            </a:r>
          </a:p>
        </p:txBody>
      </p:sp>
      <p:sp>
        <p:nvSpPr>
          <p:cNvPr name="TextBox 7" id="7"/>
          <p:cNvSpPr txBox="true"/>
          <p:nvPr/>
        </p:nvSpPr>
        <p:spPr>
          <a:xfrm rot="0">
            <a:off x="1700023" y="6715422"/>
            <a:ext cx="9726291" cy="444500"/>
          </a:xfrm>
          <a:prstGeom prst="rect">
            <a:avLst/>
          </a:prstGeom>
        </p:spPr>
        <p:txBody>
          <a:bodyPr anchor="t" rtlCol="false" tIns="0" lIns="0" bIns="0" rIns="0">
            <a:spAutoFit/>
          </a:bodyPr>
          <a:lstStyle/>
          <a:p>
            <a:pPr algn="l">
              <a:lnSpc>
                <a:spcPts val="3624"/>
              </a:lnSpc>
            </a:pPr>
            <a:r>
              <a:rPr lang="en-US" b="true" sz="2499" spc="234">
                <a:solidFill>
                  <a:srgbClr val="FFFFFF"/>
                </a:solidFill>
                <a:latin typeface="Glacial Indifference Bold"/>
                <a:ea typeface="Glacial Indifference Bold"/>
                <a:cs typeface="Glacial Indifference Bold"/>
                <a:sym typeface="Glacial Indifference Bold"/>
              </a:rPr>
              <a:t>HTTPS://WAYGROUND.COM/JOIN?GC=39929737</a:t>
            </a:r>
          </a:p>
        </p:txBody>
      </p:sp>
      <p:sp>
        <p:nvSpPr>
          <p:cNvPr name="Freeform 8" id="8"/>
          <p:cNvSpPr/>
          <p:nvPr/>
        </p:nvSpPr>
        <p:spPr>
          <a:xfrm flipH="false" flipV="false" rot="2700000">
            <a:off x="-3474526" y="7472472"/>
            <a:ext cx="11077420" cy="8229600"/>
          </a:xfrm>
          <a:custGeom>
            <a:avLst/>
            <a:gdLst/>
            <a:ahLst/>
            <a:cxnLst/>
            <a:rect r="r" b="b" t="t" l="l"/>
            <a:pathLst>
              <a:path h="8229600" w="11077420">
                <a:moveTo>
                  <a:pt x="0" y="0"/>
                </a:moveTo>
                <a:lnTo>
                  <a:pt x="11077420" y="0"/>
                </a:lnTo>
                <a:lnTo>
                  <a:pt x="11077420" y="8229600"/>
                </a:lnTo>
                <a:lnTo>
                  <a:pt x="0" y="8229600"/>
                </a:lnTo>
                <a:lnTo>
                  <a:pt x="0" y="0"/>
                </a:lnTo>
                <a:close/>
              </a:path>
            </a:pathLst>
          </a:custGeom>
          <a:blipFill>
            <a:blip r:embed="rId3"/>
            <a:stretch>
              <a:fillRect l="0" t="0" r="0" b="0"/>
            </a:stretch>
          </a:blipFill>
        </p:spPr>
      </p:sp>
      <p:sp>
        <p:nvSpPr>
          <p:cNvPr name="Freeform 9" id="9"/>
          <p:cNvSpPr/>
          <p:nvPr/>
        </p:nvSpPr>
        <p:spPr>
          <a:xfrm flipH="false" flipV="false" rot="0">
            <a:off x="11588339" y="3254069"/>
            <a:ext cx="5519183" cy="5843206"/>
          </a:xfrm>
          <a:custGeom>
            <a:avLst/>
            <a:gdLst/>
            <a:ahLst/>
            <a:cxnLst/>
            <a:rect r="r" b="b" t="t" l="l"/>
            <a:pathLst>
              <a:path h="5843206" w="5519183">
                <a:moveTo>
                  <a:pt x="0" y="0"/>
                </a:moveTo>
                <a:lnTo>
                  <a:pt x="5519183" y="0"/>
                </a:lnTo>
                <a:lnTo>
                  <a:pt x="5519183" y="5843206"/>
                </a:lnTo>
                <a:lnTo>
                  <a:pt x="0" y="5843206"/>
                </a:lnTo>
                <a:lnTo>
                  <a:pt x="0" y="0"/>
                </a:lnTo>
                <a:close/>
              </a:path>
            </a:pathLst>
          </a:custGeom>
          <a:blipFill>
            <a:blip r:embed="rId4"/>
            <a:stretch>
              <a:fillRect l="0" t="0" r="0" b="0"/>
            </a:stretch>
          </a:blipFill>
        </p:spPr>
      </p:sp>
      <p:sp>
        <p:nvSpPr>
          <p:cNvPr name="TextBox 10" id="10"/>
          <p:cNvSpPr txBox="true"/>
          <p:nvPr/>
        </p:nvSpPr>
        <p:spPr>
          <a:xfrm rot="0">
            <a:off x="526121" y="876300"/>
            <a:ext cx="8929836" cy="1477511"/>
          </a:xfrm>
          <a:prstGeom prst="rect">
            <a:avLst/>
          </a:prstGeom>
        </p:spPr>
        <p:txBody>
          <a:bodyPr anchor="t" rtlCol="false" tIns="0" lIns="0" bIns="0" rIns="0">
            <a:spAutoFit/>
          </a:bodyPr>
          <a:lstStyle/>
          <a:p>
            <a:pPr algn="l">
              <a:lnSpc>
                <a:spcPts val="12006"/>
              </a:lnSpc>
            </a:pPr>
            <a:r>
              <a:rPr lang="en-US" sz="8700">
                <a:solidFill>
                  <a:srgbClr val="FFFFFF"/>
                </a:solidFill>
                <a:latin typeface="Pacifico"/>
                <a:ea typeface="Pacifico"/>
                <a:cs typeface="Pacifico"/>
                <a:sym typeface="Pacifico"/>
              </a:rPr>
              <a:t>Acceso Wayground</a:t>
            </a:r>
          </a:p>
        </p:txBody>
      </p:sp>
      <p:sp>
        <p:nvSpPr>
          <p:cNvPr name="TextBox 11" id="11"/>
          <p:cNvSpPr txBox="true"/>
          <p:nvPr/>
        </p:nvSpPr>
        <p:spPr>
          <a:xfrm rot="0">
            <a:off x="1028700" y="2902142"/>
            <a:ext cx="9726291"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PASO 1: UTILICE CUALQUIER DISPOSITIVO PARA ABRIR</a:t>
            </a:r>
          </a:p>
        </p:txBody>
      </p:sp>
      <p:sp>
        <p:nvSpPr>
          <p:cNvPr name="TextBox 12" id="12"/>
          <p:cNvSpPr txBox="true"/>
          <p:nvPr/>
        </p:nvSpPr>
        <p:spPr>
          <a:xfrm rot="0">
            <a:off x="1700023" y="3508672"/>
            <a:ext cx="9726291" cy="444500"/>
          </a:xfrm>
          <a:prstGeom prst="rect">
            <a:avLst/>
          </a:prstGeom>
        </p:spPr>
        <p:txBody>
          <a:bodyPr anchor="t" rtlCol="false" tIns="0" lIns="0" bIns="0" rIns="0">
            <a:spAutoFit/>
          </a:bodyPr>
          <a:lstStyle/>
          <a:p>
            <a:pPr algn="l">
              <a:lnSpc>
                <a:spcPts val="3624"/>
              </a:lnSpc>
            </a:pPr>
            <a:r>
              <a:rPr lang="en-US" sz="2499" spc="234" u="sng">
                <a:solidFill>
                  <a:srgbClr val="FFFFFF"/>
                </a:solidFill>
                <a:latin typeface="Glacial Indifference"/>
                <a:ea typeface="Glacial Indifference"/>
                <a:cs typeface="Glacial Indifference"/>
                <a:sym typeface="Glacial Indifference"/>
                <a:hlinkClick r:id="rId5" tooltip="https://joinmyquiz.com"/>
              </a:rPr>
              <a:t>JOINMYQUIZ.COM</a:t>
            </a:r>
          </a:p>
        </p:txBody>
      </p:sp>
      <p:sp>
        <p:nvSpPr>
          <p:cNvPr name="TextBox 13" id="13"/>
          <p:cNvSpPr txBox="true"/>
          <p:nvPr/>
        </p:nvSpPr>
        <p:spPr>
          <a:xfrm rot="0">
            <a:off x="13047722" y="2268086"/>
            <a:ext cx="9726291" cy="596901"/>
          </a:xfrm>
          <a:prstGeom prst="rect">
            <a:avLst/>
          </a:prstGeom>
        </p:spPr>
        <p:txBody>
          <a:bodyPr anchor="t" rtlCol="false" tIns="0" lIns="0" bIns="0" rIns="0">
            <a:spAutoFit/>
          </a:bodyPr>
          <a:lstStyle/>
          <a:p>
            <a:pPr algn="l">
              <a:lnSpc>
                <a:spcPts val="4929"/>
              </a:lnSpc>
            </a:pPr>
            <a:r>
              <a:rPr lang="en-US" sz="3399" spc="319">
                <a:solidFill>
                  <a:srgbClr val="FFFFFF"/>
                </a:solidFill>
                <a:latin typeface="Glacial Indifference"/>
                <a:ea typeface="Glacial Indifference"/>
                <a:cs typeface="Glacial Indifference"/>
                <a:sym typeface="Glacial Indifference"/>
              </a:rPr>
              <a:t>CODIGO QR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AutoShape 4" id="4"/>
          <p:cNvSpPr/>
          <p:nvPr/>
        </p:nvSpPr>
        <p:spPr>
          <a:xfrm>
            <a:off x="1989238" y="5124450"/>
            <a:ext cx="439149" cy="0"/>
          </a:xfrm>
          <a:prstGeom prst="line">
            <a:avLst/>
          </a:prstGeom>
          <a:ln cap="flat" w="19050">
            <a:solidFill>
              <a:srgbClr val="FFFFFF"/>
            </a:solidFill>
            <a:prstDash val="solid"/>
            <a:headEnd type="none" len="sm" w="sm"/>
            <a:tailEnd type="none" len="sm" w="sm"/>
          </a:ln>
        </p:spPr>
      </p:sp>
      <p:grpSp>
        <p:nvGrpSpPr>
          <p:cNvPr name="Group 5" id="5"/>
          <p:cNvGrpSpPr/>
          <p:nvPr/>
        </p:nvGrpSpPr>
        <p:grpSpPr>
          <a:xfrm rot="0">
            <a:off x="14347931" y="0"/>
            <a:ext cx="3940069" cy="1173635"/>
            <a:chOff x="0" y="0"/>
            <a:chExt cx="7662253" cy="2282368"/>
          </a:xfrm>
        </p:grpSpPr>
        <p:sp>
          <p:nvSpPr>
            <p:cNvPr name="Freeform 6" id="6"/>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Freeform 7" id="7"/>
          <p:cNvSpPr/>
          <p:nvPr/>
        </p:nvSpPr>
        <p:spPr>
          <a:xfrm flipH="false" flipV="false" rot="0">
            <a:off x="261813" y="4185056"/>
            <a:ext cx="1533774" cy="1878788"/>
          </a:xfrm>
          <a:custGeom>
            <a:avLst/>
            <a:gdLst/>
            <a:ahLst/>
            <a:cxnLst/>
            <a:rect r="r" b="b" t="t" l="l"/>
            <a:pathLst>
              <a:path h="1878788" w="1533774">
                <a:moveTo>
                  <a:pt x="0" y="0"/>
                </a:moveTo>
                <a:lnTo>
                  <a:pt x="1533774" y="0"/>
                </a:lnTo>
                <a:lnTo>
                  <a:pt x="1533774" y="1878788"/>
                </a:lnTo>
                <a:lnTo>
                  <a:pt x="0" y="18787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669866" y="4575175"/>
            <a:ext cx="14589434" cy="117475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LECTURA PROGRAMA DEL CURSO</a:t>
            </a:r>
          </a:p>
        </p:txBody>
      </p:sp>
      <p:sp>
        <p:nvSpPr>
          <p:cNvPr name="Freeform 9" id="9"/>
          <p:cNvSpPr/>
          <p:nvPr/>
        </p:nvSpPr>
        <p:spPr>
          <a:xfrm flipH="false" flipV="false" rot="0">
            <a:off x="14827737" y="1655391"/>
            <a:ext cx="764116" cy="764116"/>
          </a:xfrm>
          <a:custGeom>
            <a:avLst/>
            <a:gdLst/>
            <a:ahLst/>
            <a:cxnLst/>
            <a:rect r="r" b="b" t="t" l="l"/>
            <a:pathLst>
              <a:path h="764116" w="764116">
                <a:moveTo>
                  <a:pt x="0" y="0"/>
                </a:moveTo>
                <a:lnTo>
                  <a:pt x="764116" y="0"/>
                </a:lnTo>
                <a:lnTo>
                  <a:pt x="764116" y="764116"/>
                </a:lnTo>
                <a:lnTo>
                  <a:pt x="0" y="764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5748861" y="1781862"/>
            <a:ext cx="2319787"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20 MINUTOS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117043">
            <a:off x="-1403662" y="-2197567"/>
            <a:ext cx="6395324" cy="6395324"/>
          </a:xfrm>
          <a:custGeom>
            <a:avLst/>
            <a:gdLst/>
            <a:ahLst/>
            <a:cxnLst/>
            <a:rect r="r" b="b" t="t" l="l"/>
            <a:pathLst>
              <a:path h="6395324" w="6395324">
                <a:moveTo>
                  <a:pt x="0" y="0"/>
                </a:moveTo>
                <a:lnTo>
                  <a:pt x="6395324" y="0"/>
                </a:lnTo>
                <a:lnTo>
                  <a:pt x="6395324" y="6395324"/>
                </a:lnTo>
                <a:lnTo>
                  <a:pt x="0" y="63953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7685">
            <a:off x="9497805" y="8027813"/>
            <a:ext cx="11077420" cy="8229600"/>
          </a:xfrm>
          <a:custGeom>
            <a:avLst/>
            <a:gdLst/>
            <a:ahLst/>
            <a:cxnLst/>
            <a:rect r="r" b="b" t="t" l="l"/>
            <a:pathLst>
              <a:path h="8229600" w="11077420">
                <a:moveTo>
                  <a:pt x="0" y="0"/>
                </a:moveTo>
                <a:lnTo>
                  <a:pt x="11077420" y="0"/>
                </a:lnTo>
                <a:lnTo>
                  <a:pt x="11077420" y="8229600"/>
                </a:lnTo>
                <a:lnTo>
                  <a:pt x="0" y="8229600"/>
                </a:lnTo>
                <a:lnTo>
                  <a:pt x="0" y="0"/>
                </a:lnTo>
                <a:close/>
              </a:path>
            </a:pathLst>
          </a:custGeom>
          <a:blipFill>
            <a:blip r:embed="rId4"/>
            <a:stretch>
              <a:fillRect l="0" t="0" r="0" b="0"/>
            </a:stretch>
          </a:blipFill>
        </p:spPr>
      </p:sp>
      <p:sp>
        <p:nvSpPr>
          <p:cNvPr name="Freeform 4" id="4"/>
          <p:cNvSpPr/>
          <p:nvPr/>
        </p:nvSpPr>
        <p:spPr>
          <a:xfrm flipH="false" flipV="false" rot="0">
            <a:off x="6855595" y="446552"/>
            <a:ext cx="10776677" cy="9393895"/>
          </a:xfrm>
          <a:custGeom>
            <a:avLst/>
            <a:gdLst/>
            <a:ahLst/>
            <a:cxnLst/>
            <a:rect r="r" b="b" t="t" l="l"/>
            <a:pathLst>
              <a:path h="9393895" w="10776677">
                <a:moveTo>
                  <a:pt x="0" y="0"/>
                </a:moveTo>
                <a:lnTo>
                  <a:pt x="10776676" y="0"/>
                </a:lnTo>
                <a:lnTo>
                  <a:pt x="10776676" y="9393896"/>
                </a:lnTo>
                <a:lnTo>
                  <a:pt x="0" y="9393896"/>
                </a:lnTo>
                <a:lnTo>
                  <a:pt x="0" y="0"/>
                </a:lnTo>
                <a:close/>
              </a:path>
            </a:pathLst>
          </a:custGeom>
          <a:blipFill>
            <a:blip r:embed="rId5"/>
            <a:stretch>
              <a:fillRect l="0" t="0" r="0" b="0"/>
            </a:stretch>
          </a:blipFill>
        </p:spPr>
      </p:sp>
      <p:sp>
        <p:nvSpPr>
          <p:cNvPr name="TextBox 5" id="5"/>
          <p:cNvSpPr txBox="true"/>
          <p:nvPr/>
        </p:nvSpPr>
        <p:spPr>
          <a:xfrm rot="0">
            <a:off x="492444" y="2376137"/>
            <a:ext cx="6192947" cy="6156325"/>
          </a:xfrm>
          <a:prstGeom prst="rect">
            <a:avLst/>
          </a:prstGeom>
        </p:spPr>
        <p:txBody>
          <a:bodyPr anchor="t" rtlCol="false" tIns="0" lIns="0" bIns="0" rIns="0">
            <a:spAutoFit/>
          </a:bodyPr>
          <a:lstStyle/>
          <a:p>
            <a:pPr algn="ctr">
              <a:lnSpc>
                <a:spcPts val="2900"/>
              </a:lnSpc>
            </a:pPr>
            <a:r>
              <a:rPr lang="en-US" b="true" sz="2000" spc="188">
                <a:solidFill>
                  <a:srgbClr val="000000"/>
                </a:solidFill>
                <a:latin typeface="Glacial Indifference Bold"/>
                <a:ea typeface="Glacial Indifference Bold"/>
                <a:cs typeface="Glacial Indifference Bold"/>
                <a:sym typeface="Glacial Indifference Bold"/>
              </a:rPr>
              <a:t>ORDEN EN EL QUE SE ABORDARA EL PROGRAMA DE LABORATORIO</a:t>
            </a:r>
          </a:p>
          <a:p>
            <a:pPr algn="l" marL="431801" indent="-215900" lvl="1">
              <a:lnSpc>
                <a:spcPts val="2900"/>
              </a:lnSpc>
              <a:buAutoNum type="arabicPeriod" startAt="1"/>
            </a:pPr>
            <a:r>
              <a:rPr lang="en-US" sz="2000" spc="188">
                <a:solidFill>
                  <a:srgbClr val="000000"/>
                </a:solidFill>
                <a:latin typeface="Glacial Indifference"/>
                <a:ea typeface="Glacial Indifference"/>
                <a:cs typeface="Glacial Indifference"/>
                <a:sym typeface="Glacial Indifference"/>
              </a:rPr>
              <a:t>SE DETALLAN LOS PARAMETROS PRINCIPALES DEL PROGRAMA COMO LOS PRERREQUISITOS, EL DIA Y LA FORMA EN LA QUE SE IMPARTIRA EL LABORATORIO.</a:t>
            </a:r>
          </a:p>
          <a:p>
            <a:pPr algn="l" marL="431801" indent="-215900" lvl="1">
              <a:lnSpc>
                <a:spcPts val="2900"/>
              </a:lnSpc>
              <a:buAutoNum type="arabicPeriod" startAt="1"/>
            </a:pPr>
            <a:r>
              <a:rPr lang="en-US" sz="2000" spc="188">
                <a:solidFill>
                  <a:srgbClr val="000000"/>
                </a:solidFill>
                <a:latin typeface="Glacial Indifference"/>
                <a:ea typeface="Glacial Indifference"/>
                <a:cs typeface="Glacial Indifference"/>
                <a:sym typeface="Glacial Indifference"/>
              </a:rPr>
              <a:t>SE ABORDA LA DESCRIPCION Y METODOLOGIA QUE SE USARA A LO LARGO DEL LABORATORIO PARA CUMPLIR CON TODOS LOS TEMAS PROPUESTOS PARA EL CURSO.</a:t>
            </a:r>
          </a:p>
          <a:p>
            <a:pPr algn="l" marL="431801" indent="-215900" lvl="1">
              <a:lnSpc>
                <a:spcPts val="2900"/>
              </a:lnSpc>
              <a:buAutoNum type="arabicPeriod" startAt="1"/>
            </a:pPr>
            <a:r>
              <a:rPr lang="en-US" sz="2000" spc="188">
                <a:solidFill>
                  <a:srgbClr val="000000"/>
                </a:solidFill>
                <a:latin typeface="Glacial Indifference"/>
                <a:ea typeface="Glacial Indifference"/>
                <a:cs typeface="Glacial Indifference"/>
                <a:sym typeface="Glacial Indifference"/>
              </a:rPr>
              <a:t>SE ABORDAN LOS TEMAS A CUBRIR EN EL LABORATORIO SEMANA A SEMANA, LA PONDERACION DE CADA ACTIVIDAD, EL NUMERO DE TAREAS Y PROYECTOS QUE SE REQUIEREN PARA TERMINAR EL LABORATORIO DE MANERA SATISFACTORIA.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AutoShape 4" id="4"/>
          <p:cNvSpPr/>
          <p:nvPr/>
        </p:nvSpPr>
        <p:spPr>
          <a:xfrm>
            <a:off x="1989238" y="5124450"/>
            <a:ext cx="439149" cy="0"/>
          </a:xfrm>
          <a:prstGeom prst="line">
            <a:avLst/>
          </a:prstGeom>
          <a:ln cap="flat" w="19050">
            <a:solidFill>
              <a:srgbClr val="FFFFFF"/>
            </a:solidFill>
            <a:prstDash val="solid"/>
            <a:headEnd type="none" len="sm" w="sm"/>
            <a:tailEnd type="none" len="sm" w="sm"/>
          </a:ln>
        </p:spPr>
      </p:sp>
      <p:grpSp>
        <p:nvGrpSpPr>
          <p:cNvPr name="Group 5" id="5"/>
          <p:cNvGrpSpPr/>
          <p:nvPr/>
        </p:nvGrpSpPr>
        <p:grpSpPr>
          <a:xfrm rot="0">
            <a:off x="14347931" y="0"/>
            <a:ext cx="3940069" cy="1173635"/>
            <a:chOff x="0" y="0"/>
            <a:chExt cx="7662253" cy="2282368"/>
          </a:xfrm>
        </p:grpSpPr>
        <p:sp>
          <p:nvSpPr>
            <p:cNvPr name="Freeform 6" id="6"/>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TextBox 7" id="7"/>
          <p:cNvSpPr txBox="true"/>
          <p:nvPr/>
        </p:nvSpPr>
        <p:spPr>
          <a:xfrm rot="0">
            <a:off x="2669866" y="3994150"/>
            <a:ext cx="14944774" cy="233680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ACTIVIDAD DE CLASE DIAGNOSTICO LABORATORIO ACTUAL</a:t>
            </a:r>
          </a:p>
        </p:txBody>
      </p:sp>
      <p:sp>
        <p:nvSpPr>
          <p:cNvPr name="Freeform 8" id="8"/>
          <p:cNvSpPr/>
          <p:nvPr/>
        </p:nvSpPr>
        <p:spPr>
          <a:xfrm flipH="false" flipV="false" rot="0">
            <a:off x="174706" y="4217184"/>
            <a:ext cx="1814531" cy="1814531"/>
          </a:xfrm>
          <a:custGeom>
            <a:avLst/>
            <a:gdLst/>
            <a:ahLst/>
            <a:cxnLst/>
            <a:rect r="r" b="b" t="t" l="l"/>
            <a:pathLst>
              <a:path h="1814531" w="1814531">
                <a:moveTo>
                  <a:pt x="0" y="0"/>
                </a:moveTo>
                <a:lnTo>
                  <a:pt x="1814532" y="0"/>
                </a:lnTo>
                <a:lnTo>
                  <a:pt x="1814532" y="1814532"/>
                </a:lnTo>
                <a:lnTo>
                  <a:pt x="0" y="18145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4827737" y="1655391"/>
            <a:ext cx="764116" cy="764116"/>
          </a:xfrm>
          <a:custGeom>
            <a:avLst/>
            <a:gdLst/>
            <a:ahLst/>
            <a:cxnLst/>
            <a:rect r="r" b="b" t="t" l="l"/>
            <a:pathLst>
              <a:path h="764116" w="764116">
                <a:moveTo>
                  <a:pt x="0" y="0"/>
                </a:moveTo>
                <a:lnTo>
                  <a:pt x="764116" y="0"/>
                </a:lnTo>
                <a:lnTo>
                  <a:pt x="764116" y="764116"/>
                </a:lnTo>
                <a:lnTo>
                  <a:pt x="0" y="764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5748861" y="1781862"/>
            <a:ext cx="2319787"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15 MINUTOS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grpSp>
        <p:nvGrpSpPr>
          <p:cNvPr name="Group 2" id="2"/>
          <p:cNvGrpSpPr/>
          <p:nvPr/>
        </p:nvGrpSpPr>
        <p:grpSpPr>
          <a:xfrm rot="0">
            <a:off x="14347931" y="0"/>
            <a:ext cx="3940069" cy="1173635"/>
            <a:chOff x="0" y="0"/>
            <a:chExt cx="7662253" cy="2282368"/>
          </a:xfrm>
        </p:grpSpPr>
        <p:sp>
          <p:nvSpPr>
            <p:cNvPr name="Freeform 3" id="3"/>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TextBox 4" id="4"/>
          <p:cNvSpPr txBox="true"/>
          <p:nvPr/>
        </p:nvSpPr>
        <p:spPr>
          <a:xfrm rot="0">
            <a:off x="526121" y="876300"/>
            <a:ext cx="8929836" cy="1477511"/>
          </a:xfrm>
          <a:prstGeom prst="rect">
            <a:avLst/>
          </a:prstGeom>
        </p:spPr>
        <p:txBody>
          <a:bodyPr anchor="t" rtlCol="false" tIns="0" lIns="0" bIns="0" rIns="0">
            <a:spAutoFit/>
          </a:bodyPr>
          <a:lstStyle/>
          <a:p>
            <a:pPr algn="l">
              <a:lnSpc>
                <a:spcPts val="12006"/>
              </a:lnSpc>
            </a:pPr>
            <a:r>
              <a:rPr lang="en-US" sz="8700">
                <a:solidFill>
                  <a:srgbClr val="FFFFFF"/>
                </a:solidFill>
                <a:latin typeface="Pacifico"/>
                <a:ea typeface="Pacifico"/>
                <a:cs typeface="Pacifico"/>
                <a:sym typeface="Pacifico"/>
              </a:rPr>
              <a:t>Acceso Wayground</a:t>
            </a:r>
          </a:p>
        </p:txBody>
      </p:sp>
      <p:sp>
        <p:nvSpPr>
          <p:cNvPr name="TextBox 5" id="5"/>
          <p:cNvSpPr txBox="true"/>
          <p:nvPr/>
        </p:nvSpPr>
        <p:spPr>
          <a:xfrm rot="0">
            <a:off x="1028700" y="2902142"/>
            <a:ext cx="9726291"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PASO 1: UTILICE CUALQUIER DISPOSITIVO PARA ABRIR</a:t>
            </a:r>
          </a:p>
        </p:txBody>
      </p:sp>
      <p:sp>
        <p:nvSpPr>
          <p:cNvPr name="TextBox 6" id="6"/>
          <p:cNvSpPr txBox="true"/>
          <p:nvPr/>
        </p:nvSpPr>
        <p:spPr>
          <a:xfrm rot="0">
            <a:off x="1700023" y="3508672"/>
            <a:ext cx="9726291" cy="444500"/>
          </a:xfrm>
          <a:prstGeom prst="rect">
            <a:avLst/>
          </a:prstGeom>
        </p:spPr>
        <p:txBody>
          <a:bodyPr anchor="t" rtlCol="false" tIns="0" lIns="0" bIns="0" rIns="0">
            <a:spAutoFit/>
          </a:bodyPr>
          <a:lstStyle/>
          <a:p>
            <a:pPr algn="l">
              <a:lnSpc>
                <a:spcPts val="3624"/>
              </a:lnSpc>
            </a:pPr>
            <a:r>
              <a:rPr lang="en-US" sz="2499" spc="234" u="sng">
                <a:solidFill>
                  <a:srgbClr val="FFFFFF"/>
                </a:solidFill>
                <a:latin typeface="Glacial Indifference"/>
                <a:ea typeface="Glacial Indifference"/>
                <a:cs typeface="Glacial Indifference"/>
                <a:sym typeface="Glacial Indifference"/>
                <a:hlinkClick r:id="rId3" tooltip="https://joinmyquiz.com"/>
              </a:rPr>
              <a:t>JOINMYQUIZ.COM</a:t>
            </a:r>
          </a:p>
        </p:txBody>
      </p:sp>
      <p:sp>
        <p:nvSpPr>
          <p:cNvPr name="TextBox 7" id="7"/>
          <p:cNvSpPr txBox="true"/>
          <p:nvPr/>
        </p:nvSpPr>
        <p:spPr>
          <a:xfrm rot="0">
            <a:off x="1028700" y="4505622"/>
            <a:ext cx="9726291"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PASO 2: INGRESE EL CÓDIGO DE REGISTRO</a:t>
            </a:r>
          </a:p>
        </p:txBody>
      </p:sp>
      <p:sp>
        <p:nvSpPr>
          <p:cNvPr name="TextBox 8" id="8"/>
          <p:cNvSpPr txBox="true"/>
          <p:nvPr/>
        </p:nvSpPr>
        <p:spPr>
          <a:xfrm rot="0">
            <a:off x="1700023" y="5112047"/>
            <a:ext cx="9726291"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5977 0761</a:t>
            </a:r>
          </a:p>
        </p:txBody>
      </p:sp>
      <p:sp>
        <p:nvSpPr>
          <p:cNvPr name="TextBox 9" id="9"/>
          <p:cNvSpPr txBox="true"/>
          <p:nvPr/>
        </p:nvSpPr>
        <p:spPr>
          <a:xfrm rot="0">
            <a:off x="1028700" y="6108997"/>
            <a:ext cx="9726291"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O POR MEDIO DEL LINK:</a:t>
            </a:r>
          </a:p>
        </p:txBody>
      </p:sp>
      <p:sp>
        <p:nvSpPr>
          <p:cNvPr name="TextBox 10" id="10"/>
          <p:cNvSpPr txBox="true"/>
          <p:nvPr/>
        </p:nvSpPr>
        <p:spPr>
          <a:xfrm rot="0">
            <a:off x="1700023" y="6715422"/>
            <a:ext cx="9726291" cy="444500"/>
          </a:xfrm>
          <a:prstGeom prst="rect">
            <a:avLst/>
          </a:prstGeom>
        </p:spPr>
        <p:txBody>
          <a:bodyPr anchor="t" rtlCol="false" tIns="0" lIns="0" bIns="0" rIns="0">
            <a:spAutoFit/>
          </a:bodyPr>
          <a:lstStyle/>
          <a:p>
            <a:pPr algn="l">
              <a:lnSpc>
                <a:spcPts val="3624"/>
              </a:lnSpc>
            </a:pPr>
            <a:r>
              <a:rPr lang="en-US" b="true" sz="2499" spc="234">
                <a:solidFill>
                  <a:srgbClr val="FFFFFF"/>
                </a:solidFill>
                <a:latin typeface="Glacial Indifference Bold"/>
                <a:ea typeface="Glacial Indifference Bold"/>
                <a:cs typeface="Glacial Indifference Bold"/>
                <a:sym typeface="Glacial Indifference Bold"/>
              </a:rPr>
              <a:t>HTTPS://WAYGROUND.COM/JOIN?GC=59770761</a:t>
            </a:r>
          </a:p>
        </p:txBody>
      </p:sp>
      <p:sp>
        <p:nvSpPr>
          <p:cNvPr name="Freeform 11" id="11"/>
          <p:cNvSpPr/>
          <p:nvPr/>
        </p:nvSpPr>
        <p:spPr>
          <a:xfrm flipH="false" flipV="false" rot="0">
            <a:off x="11571143" y="3257400"/>
            <a:ext cx="5847393" cy="5836545"/>
          </a:xfrm>
          <a:custGeom>
            <a:avLst/>
            <a:gdLst/>
            <a:ahLst/>
            <a:cxnLst/>
            <a:rect r="r" b="b" t="t" l="l"/>
            <a:pathLst>
              <a:path h="5836545" w="5847393">
                <a:moveTo>
                  <a:pt x="0" y="0"/>
                </a:moveTo>
                <a:lnTo>
                  <a:pt x="5847393" y="0"/>
                </a:lnTo>
                <a:lnTo>
                  <a:pt x="5847393" y="5836545"/>
                </a:lnTo>
                <a:lnTo>
                  <a:pt x="0" y="5836545"/>
                </a:lnTo>
                <a:lnTo>
                  <a:pt x="0" y="0"/>
                </a:lnTo>
                <a:close/>
              </a:path>
            </a:pathLst>
          </a:custGeom>
          <a:blipFill>
            <a:blip r:embed="rId4"/>
            <a:stretch>
              <a:fillRect l="0" t="0" r="0" b="0"/>
            </a:stretch>
          </a:blipFill>
        </p:spPr>
      </p:sp>
      <p:sp>
        <p:nvSpPr>
          <p:cNvPr name="TextBox 12" id="12"/>
          <p:cNvSpPr txBox="true"/>
          <p:nvPr/>
        </p:nvSpPr>
        <p:spPr>
          <a:xfrm rot="0">
            <a:off x="13047722" y="2268086"/>
            <a:ext cx="9726291" cy="596901"/>
          </a:xfrm>
          <a:prstGeom prst="rect">
            <a:avLst/>
          </a:prstGeom>
        </p:spPr>
        <p:txBody>
          <a:bodyPr anchor="t" rtlCol="false" tIns="0" lIns="0" bIns="0" rIns="0">
            <a:spAutoFit/>
          </a:bodyPr>
          <a:lstStyle/>
          <a:p>
            <a:pPr algn="l">
              <a:lnSpc>
                <a:spcPts val="4929"/>
              </a:lnSpc>
            </a:pPr>
            <a:r>
              <a:rPr lang="en-US" sz="3399" spc="319">
                <a:solidFill>
                  <a:srgbClr val="FFFFFF"/>
                </a:solidFill>
                <a:latin typeface="Glacial Indifference"/>
                <a:ea typeface="Glacial Indifference"/>
                <a:cs typeface="Glacial Indifference"/>
                <a:sym typeface="Glacial Indifference"/>
              </a:rPr>
              <a:t>CODIGO QR</a:t>
            </a:r>
          </a:p>
        </p:txBody>
      </p:sp>
      <p:sp>
        <p:nvSpPr>
          <p:cNvPr name="Freeform 13" id="13"/>
          <p:cNvSpPr/>
          <p:nvPr/>
        </p:nvSpPr>
        <p:spPr>
          <a:xfrm flipH="false" flipV="false" rot="2700000">
            <a:off x="-3474526" y="7472472"/>
            <a:ext cx="11077420" cy="8229600"/>
          </a:xfrm>
          <a:custGeom>
            <a:avLst/>
            <a:gdLst/>
            <a:ahLst/>
            <a:cxnLst/>
            <a:rect r="r" b="b" t="t" l="l"/>
            <a:pathLst>
              <a:path h="8229600" w="11077420">
                <a:moveTo>
                  <a:pt x="0" y="0"/>
                </a:moveTo>
                <a:lnTo>
                  <a:pt x="11077420" y="0"/>
                </a:lnTo>
                <a:lnTo>
                  <a:pt x="11077420" y="8229600"/>
                </a:lnTo>
                <a:lnTo>
                  <a:pt x="0" y="8229600"/>
                </a:lnTo>
                <a:lnTo>
                  <a:pt x="0" y="0"/>
                </a:lnTo>
                <a:close/>
              </a:path>
            </a:pathLst>
          </a:custGeom>
          <a:blipFill>
            <a:blip r:embed="rId5"/>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AutoShape 4" id="4"/>
          <p:cNvSpPr/>
          <p:nvPr/>
        </p:nvSpPr>
        <p:spPr>
          <a:xfrm>
            <a:off x="1989238" y="5124450"/>
            <a:ext cx="439149" cy="0"/>
          </a:xfrm>
          <a:prstGeom prst="line">
            <a:avLst/>
          </a:prstGeom>
          <a:ln cap="flat" w="19050">
            <a:solidFill>
              <a:srgbClr val="FFFFFF"/>
            </a:solidFill>
            <a:prstDash val="solid"/>
            <a:headEnd type="none" len="sm" w="sm"/>
            <a:tailEnd type="none" len="sm" w="sm"/>
          </a:ln>
        </p:spPr>
      </p:sp>
      <p:grpSp>
        <p:nvGrpSpPr>
          <p:cNvPr name="Group 5" id="5"/>
          <p:cNvGrpSpPr/>
          <p:nvPr/>
        </p:nvGrpSpPr>
        <p:grpSpPr>
          <a:xfrm rot="0">
            <a:off x="14347931" y="0"/>
            <a:ext cx="3940069" cy="1173635"/>
            <a:chOff x="0" y="0"/>
            <a:chExt cx="7662253" cy="2282368"/>
          </a:xfrm>
        </p:grpSpPr>
        <p:sp>
          <p:nvSpPr>
            <p:cNvPr name="Freeform 6" id="6"/>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2"/>
              <a:stretch>
                <a:fillRect l="0" t="0" r="0" b="-2"/>
              </a:stretch>
            </a:blipFill>
          </p:spPr>
        </p:sp>
      </p:grpSp>
      <p:sp>
        <p:nvSpPr>
          <p:cNvPr name="Freeform 7" id="7"/>
          <p:cNvSpPr/>
          <p:nvPr/>
        </p:nvSpPr>
        <p:spPr>
          <a:xfrm flipH="false" flipV="false" rot="0">
            <a:off x="370409" y="4246849"/>
            <a:ext cx="1316583" cy="1793302"/>
          </a:xfrm>
          <a:custGeom>
            <a:avLst/>
            <a:gdLst/>
            <a:ahLst/>
            <a:cxnLst/>
            <a:rect r="r" b="b" t="t" l="l"/>
            <a:pathLst>
              <a:path h="1793302" w="1316583">
                <a:moveTo>
                  <a:pt x="0" y="0"/>
                </a:moveTo>
                <a:lnTo>
                  <a:pt x="1316582" y="0"/>
                </a:lnTo>
                <a:lnTo>
                  <a:pt x="1316582" y="1793302"/>
                </a:lnTo>
                <a:lnTo>
                  <a:pt x="0" y="17933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669866" y="3994150"/>
            <a:ext cx="14589434" cy="233680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PRESENTACIÓN DE LA TAREA DE FORTALECIMIENTO ACADÉMICO</a:t>
            </a:r>
          </a:p>
        </p:txBody>
      </p:sp>
      <p:sp>
        <p:nvSpPr>
          <p:cNvPr name="Freeform 9" id="9"/>
          <p:cNvSpPr/>
          <p:nvPr/>
        </p:nvSpPr>
        <p:spPr>
          <a:xfrm flipH="false" flipV="false" rot="0">
            <a:off x="14827737" y="1655391"/>
            <a:ext cx="764116" cy="764116"/>
          </a:xfrm>
          <a:custGeom>
            <a:avLst/>
            <a:gdLst/>
            <a:ahLst/>
            <a:cxnLst/>
            <a:rect r="r" b="b" t="t" l="l"/>
            <a:pathLst>
              <a:path h="764116" w="764116">
                <a:moveTo>
                  <a:pt x="0" y="0"/>
                </a:moveTo>
                <a:lnTo>
                  <a:pt x="764116" y="0"/>
                </a:lnTo>
                <a:lnTo>
                  <a:pt x="764116" y="764116"/>
                </a:lnTo>
                <a:lnTo>
                  <a:pt x="0" y="764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5748861" y="1781862"/>
            <a:ext cx="2319787"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5 MINUTOS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4" id="4"/>
          <p:cNvGrpSpPr/>
          <p:nvPr/>
        </p:nvGrpSpPr>
        <p:grpSpPr>
          <a:xfrm rot="0">
            <a:off x="0" y="0"/>
            <a:ext cx="18288000" cy="1428902"/>
            <a:chOff x="0" y="0"/>
            <a:chExt cx="24384000" cy="1905203"/>
          </a:xfrm>
        </p:grpSpPr>
        <p:sp>
          <p:nvSpPr>
            <p:cNvPr name="Freeform 5" id="5"/>
            <p:cNvSpPr/>
            <p:nvPr/>
          </p:nvSpPr>
          <p:spPr>
            <a:xfrm flipH="false" flipV="false" rot="0">
              <a:off x="0" y="0"/>
              <a:ext cx="24384000" cy="1905254"/>
            </a:xfrm>
            <a:custGeom>
              <a:avLst/>
              <a:gdLst/>
              <a:ahLst/>
              <a:cxnLst/>
              <a:rect r="r" b="b" t="t" l="l"/>
              <a:pathLst>
                <a:path h="1905254" w="24384000">
                  <a:moveTo>
                    <a:pt x="0" y="0"/>
                  </a:moveTo>
                  <a:lnTo>
                    <a:pt x="24384000" y="0"/>
                  </a:lnTo>
                  <a:lnTo>
                    <a:pt x="24384000" y="1905254"/>
                  </a:lnTo>
                  <a:lnTo>
                    <a:pt x="0" y="1905254"/>
                  </a:lnTo>
                  <a:close/>
                </a:path>
              </a:pathLst>
            </a:custGeom>
            <a:solidFill>
              <a:srgbClr val="F8F9FA"/>
            </a:solidFill>
          </p:spPr>
        </p:sp>
      </p:grpSp>
      <p:grpSp>
        <p:nvGrpSpPr>
          <p:cNvPr name="Group 6" id="6"/>
          <p:cNvGrpSpPr/>
          <p:nvPr/>
        </p:nvGrpSpPr>
        <p:grpSpPr>
          <a:xfrm rot="0">
            <a:off x="762000" y="285750"/>
            <a:ext cx="16764000" cy="1143000"/>
            <a:chOff x="0" y="0"/>
            <a:chExt cx="22352000" cy="1524000"/>
          </a:xfrm>
        </p:grpSpPr>
        <p:sp>
          <p:nvSpPr>
            <p:cNvPr name="Freeform 7" id="7"/>
            <p:cNvSpPr/>
            <p:nvPr/>
          </p:nvSpPr>
          <p:spPr>
            <a:xfrm flipH="false" flipV="false" rot="0">
              <a:off x="0" y="0"/>
              <a:ext cx="22352000" cy="1524000"/>
            </a:xfrm>
            <a:custGeom>
              <a:avLst/>
              <a:gdLst/>
              <a:ahLst/>
              <a:cxnLst/>
              <a:rect r="r" b="b" t="t" l="l"/>
              <a:pathLst>
                <a:path h="1524000" w="22352000">
                  <a:moveTo>
                    <a:pt x="0" y="0"/>
                  </a:moveTo>
                  <a:lnTo>
                    <a:pt x="22352000" y="0"/>
                  </a:lnTo>
                  <a:lnTo>
                    <a:pt x="22352000" y="1524000"/>
                  </a:lnTo>
                  <a:lnTo>
                    <a:pt x="0" y="1524000"/>
                  </a:lnTo>
                  <a:close/>
                </a:path>
              </a:pathLst>
            </a:custGeom>
            <a:blipFill>
              <a:blip r:embed="rId2">
                <a:alphaModFix amt="0"/>
              </a:blip>
              <a:stretch>
                <a:fillRect l="0" t="-235780" r="0" b="-235780"/>
              </a:stretch>
            </a:blipFill>
          </p:spPr>
        </p:sp>
        <p:sp>
          <p:nvSpPr>
            <p:cNvPr name="TextBox 8" id="8"/>
            <p:cNvSpPr txBox="true"/>
            <p:nvPr/>
          </p:nvSpPr>
          <p:spPr>
            <a:xfrm>
              <a:off x="0" y="-104775"/>
              <a:ext cx="22352000" cy="1628775"/>
            </a:xfrm>
            <a:prstGeom prst="rect">
              <a:avLst/>
            </a:prstGeom>
          </p:spPr>
          <p:txBody>
            <a:bodyPr anchor="ctr" rtlCol="false" tIns="0" lIns="0" bIns="0" rIns="0"/>
            <a:lstStyle/>
            <a:p>
              <a:pPr algn="ctr">
                <a:lnSpc>
                  <a:spcPts val="6240"/>
                </a:lnSpc>
              </a:pPr>
              <a:r>
                <a:rPr lang="en-US" sz="5200">
                  <a:solidFill>
                    <a:srgbClr val="131416"/>
                  </a:solidFill>
                  <a:latin typeface="Impact"/>
                  <a:ea typeface="Impact"/>
                  <a:cs typeface="Impact"/>
                  <a:sym typeface="Impact"/>
                </a:rPr>
                <a:t>Tarea #0 — Estructuras de Datos</a:t>
              </a:r>
            </a:p>
          </p:txBody>
        </p:sp>
      </p:grpSp>
      <p:sp>
        <p:nvSpPr>
          <p:cNvPr name="TextBox 9" id="9"/>
          <p:cNvSpPr txBox="true"/>
          <p:nvPr/>
        </p:nvSpPr>
        <p:spPr>
          <a:xfrm rot="0">
            <a:off x="762000" y="1323975"/>
            <a:ext cx="16764000" cy="390525"/>
          </a:xfrm>
          <a:prstGeom prst="rect">
            <a:avLst/>
          </a:prstGeom>
        </p:spPr>
        <p:txBody>
          <a:bodyPr anchor="t" rtlCol="false" tIns="0" lIns="0" bIns="0" rIns="0">
            <a:spAutoFit/>
          </a:bodyPr>
          <a:lstStyle/>
          <a:p>
            <a:pPr algn="ctr">
              <a:lnSpc>
                <a:spcPts val="2400"/>
              </a:lnSpc>
            </a:pPr>
            <a:r>
              <a:rPr lang="en-US" sz="2000">
                <a:solidFill>
                  <a:srgbClr val="555555"/>
                </a:solidFill>
                <a:latin typeface="Arial"/>
                <a:ea typeface="Arial"/>
                <a:cs typeface="Arial"/>
                <a:sym typeface="Arial"/>
              </a:rPr>
              <a:t>Laboratorio - Programación Comercial 1 | USAC - Facultad de Ingeniería | 2do Semestre 2026</a:t>
            </a:r>
          </a:p>
        </p:txBody>
      </p:sp>
      <p:grpSp>
        <p:nvGrpSpPr>
          <p:cNvPr name="Group 10" id="10"/>
          <p:cNvGrpSpPr/>
          <p:nvPr/>
        </p:nvGrpSpPr>
        <p:grpSpPr>
          <a:xfrm rot="0">
            <a:off x="762000" y="2000250"/>
            <a:ext cx="4286402" cy="1428902"/>
            <a:chOff x="0" y="0"/>
            <a:chExt cx="5715203" cy="1905203"/>
          </a:xfrm>
        </p:grpSpPr>
        <p:sp>
          <p:nvSpPr>
            <p:cNvPr name="Freeform 11" id="11"/>
            <p:cNvSpPr/>
            <p:nvPr/>
          </p:nvSpPr>
          <p:spPr>
            <a:xfrm flipH="false" flipV="false" rot="0">
              <a:off x="0" y="0"/>
              <a:ext cx="5715127" cy="1905127"/>
            </a:xfrm>
            <a:custGeom>
              <a:avLst/>
              <a:gdLst/>
              <a:ahLst/>
              <a:cxnLst/>
              <a:rect r="r" b="b" t="t" l="l"/>
              <a:pathLst>
                <a:path h="1905127" w="5715127">
                  <a:moveTo>
                    <a:pt x="0" y="190500"/>
                  </a:moveTo>
                  <a:cubicBezTo>
                    <a:pt x="0" y="85344"/>
                    <a:pt x="85344" y="0"/>
                    <a:pt x="190500" y="0"/>
                  </a:cubicBezTo>
                  <a:lnTo>
                    <a:pt x="5524627" y="0"/>
                  </a:lnTo>
                  <a:cubicBezTo>
                    <a:pt x="5629910" y="0"/>
                    <a:pt x="5715127" y="85344"/>
                    <a:pt x="5715127" y="190500"/>
                  </a:cubicBezTo>
                  <a:lnTo>
                    <a:pt x="5715127" y="1714627"/>
                  </a:lnTo>
                  <a:cubicBezTo>
                    <a:pt x="5715127" y="1819910"/>
                    <a:pt x="5629783" y="1905127"/>
                    <a:pt x="5524627" y="1905127"/>
                  </a:cubicBezTo>
                  <a:lnTo>
                    <a:pt x="190500" y="1905127"/>
                  </a:lnTo>
                  <a:cubicBezTo>
                    <a:pt x="85217" y="1905127"/>
                    <a:pt x="0" y="1819783"/>
                    <a:pt x="0" y="1714627"/>
                  </a:cubicBezTo>
                  <a:close/>
                </a:path>
              </a:pathLst>
            </a:custGeom>
            <a:solidFill>
              <a:srgbClr val="F1F3F4"/>
            </a:solidFill>
          </p:spPr>
        </p:sp>
      </p:grpSp>
      <p:grpSp>
        <p:nvGrpSpPr>
          <p:cNvPr name="Group 12" id="12"/>
          <p:cNvGrpSpPr/>
          <p:nvPr/>
        </p:nvGrpSpPr>
        <p:grpSpPr>
          <a:xfrm rot="0">
            <a:off x="952500" y="2095500"/>
            <a:ext cx="3905402" cy="1238402"/>
            <a:chOff x="0" y="0"/>
            <a:chExt cx="5207203" cy="1651203"/>
          </a:xfrm>
        </p:grpSpPr>
        <p:sp>
          <p:nvSpPr>
            <p:cNvPr name="Freeform 13" id="13"/>
            <p:cNvSpPr/>
            <p:nvPr/>
          </p:nvSpPr>
          <p:spPr>
            <a:xfrm flipH="false" flipV="false" rot="0">
              <a:off x="0" y="0"/>
              <a:ext cx="5207200" cy="1651200"/>
            </a:xfrm>
            <a:custGeom>
              <a:avLst/>
              <a:gdLst/>
              <a:ahLst/>
              <a:cxnLst/>
              <a:rect r="r" b="b" t="t" l="l"/>
              <a:pathLst>
                <a:path h="1651200" w="5207200">
                  <a:moveTo>
                    <a:pt x="0" y="0"/>
                  </a:moveTo>
                  <a:lnTo>
                    <a:pt x="5207200" y="0"/>
                  </a:lnTo>
                  <a:lnTo>
                    <a:pt x="5207200" y="1651200"/>
                  </a:lnTo>
                  <a:lnTo>
                    <a:pt x="0" y="1651200"/>
                  </a:lnTo>
                  <a:close/>
                </a:path>
              </a:pathLst>
            </a:custGeom>
            <a:blipFill>
              <a:blip r:embed="rId2">
                <a:alphaModFix amt="0"/>
              </a:blip>
              <a:stretch>
                <a:fillRect l="0" t="-11447" r="0" b="-11447"/>
              </a:stretch>
            </a:blipFill>
          </p:spPr>
        </p:sp>
        <p:sp>
          <p:nvSpPr>
            <p:cNvPr name="TextBox 14" id="14"/>
            <p:cNvSpPr txBox="true"/>
            <p:nvPr/>
          </p:nvSpPr>
          <p:spPr>
            <a:xfrm>
              <a:off x="0" y="0"/>
              <a:ext cx="5207203" cy="1651203"/>
            </a:xfrm>
            <a:prstGeom prst="rect">
              <a:avLst/>
            </a:prstGeom>
          </p:spPr>
          <p:txBody>
            <a:bodyPr anchor="ctr" rtlCol="false" tIns="0" lIns="0" bIns="0" rIns="0"/>
            <a:lstStyle/>
            <a:p>
              <a:pPr algn="l">
                <a:lnSpc>
                  <a:spcPts val="2160"/>
                </a:lnSpc>
              </a:pPr>
              <a:r>
                <a:rPr lang="en-US" b="true" sz="1800">
                  <a:solidFill>
                    <a:srgbClr val="333333"/>
                  </a:solidFill>
                  <a:latin typeface="Libre Franklin Bold"/>
                  <a:ea typeface="Libre Franklin Bold"/>
                  <a:cs typeface="Libre Franklin Bold"/>
                  <a:sym typeface="Libre Franklin Bold"/>
                </a:rPr>
                <a:t>Ponderación:</a:t>
              </a:r>
              <a:r>
                <a:rPr lang="en-US" sz="1800">
                  <a:solidFill>
                    <a:srgbClr val="333333"/>
                  </a:solidFill>
                  <a:latin typeface="Libre Franklin"/>
                  <a:ea typeface="Libre Franklin"/>
                  <a:cs typeface="Libre Franklin"/>
                  <a:sym typeface="Libre Franklin"/>
                </a:rPr>
                <a:t> 2.5 pts</a:t>
              </a:r>
            </a:p>
            <a:p>
              <a:pPr algn="l">
                <a:lnSpc>
                  <a:spcPts val="2160"/>
                </a:lnSpc>
              </a:pPr>
              <a:r>
                <a:rPr lang="en-US" b="true" sz="1800">
                  <a:solidFill>
                    <a:srgbClr val="333333"/>
                  </a:solidFill>
                  <a:latin typeface="Libre Franklin Bold"/>
                  <a:ea typeface="Libre Franklin Bold"/>
                  <a:cs typeface="Libre Franklin Bold"/>
                  <a:sym typeface="Libre Franklin Bold"/>
                </a:rPr>
                <a:t>Tiempo estimado:</a:t>
              </a:r>
              <a:r>
                <a:rPr lang="en-US" sz="1800">
                  <a:solidFill>
                    <a:srgbClr val="333333"/>
                  </a:solidFill>
                  <a:latin typeface="Libre Franklin"/>
                  <a:ea typeface="Libre Franklin"/>
                  <a:cs typeface="Libre Franklin"/>
                  <a:sym typeface="Libre Franklin"/>
                </a:rPr>
                <a:t> 2 hrs</a:t>
              </a:r>
            </a:p>
          </p:txBody>
        </p:sp>
      </p:grpSp>
      <p:grpSp>
        <p:nvGrpSpPr>
          <p:cNvPr name="Group 15" id="15"/>
          <p:cNvGrpSpPr/>
          <p:nvPr/>
        </p:nvGrpSpPr>
        <p:grpSpPr>
          <a:xfrm rot="0">
            <a:off x="5238750" y="2000250"/>
            <a:ext cx="12287402" cy="1428902"/>
            <a:chOff x="0" y="0"/>
            <a:chExt cx="16383203" cy="1905203"/>
          </a:xfrm>
        </p:grpSpPr>
        <p:sp>
          <p:nvSpPr>
            <p:cNvPr name="Freeform 16" id="16"/>
            <p:cNvSpPr/>
            <p:nvPr/>
          </p:nvSpPr>
          <p:spPr>
            <a:xfrm flipH="false" flipV="false" rot="0">
              <a:off x="0" y="0"/>
              <a:ext cx="16383127" cy="1905127"/>
            </a:xfrm>
            <a:custGeom>
              <a:avLst/>
              <a:gdLst/>
              <a:ahLst/>
              <a:cxnLst/>
              <a:rect r="r" b="b" t="t" l="l"/>
              <a:pathLst>
                <a:path h="1905127" w="16383127">
                  <a:moveTo>
                    <a:pt x="0" y="190500"/>
                  </a:moveTo>
                  <a:cubicBezTo>
                    <a:pt x="0" y="85344"/>
                    <a:pt x="85344" y="0"/>
                    <a:pt x="190500" y="0"/>
                  </a:cubicBezTo>
                  <a:lnTo>
                    <a:pt x="16192627" y="0"/>
                  </a:lnTo>
                  <a:cubicBezTo>
                    <a:pt x="16297911" y="0"/>
                    <a:pt x="16383127" y="85344"/>
                    <a:pt x="16383127" y="190500"/>
                  </a:cubicBezTo>
                  <a:lnTo>
                    <a:pt x="16383127" y="1714627"/>
                  </a:lnTo>
                  <a:cubicBezTo>
                    <a:pt x="16383127" y="1819910"/>
                    <a:pt x="16297783" y="1905127"/>
                    <a:pt x="16192627" y="1905127"/>
                  </a:cubicBezTo>
                  <a:lnTo>
                    <a:pt x="190500" y="1905127"/>
                  </a:lnTo>
                  <a:cubicBezTo>
                    <a:pt x="85217" y="1905127"/>
                    <a:pt x="0" y="1819783"/>
                    <a:pt x="0" y="1714627"/>
                  </a:cubicBezTo>
                  <a:close/>
                </a:path>
              </a:pathLst>
            </a:custGeom>
            <a:solidFill>
              <a:srgbClr val="E8F0FE"/>
            </a:solidFill>
          </p:spPr>
        </p:sp>
      </p:grpSp>
      <p:grpSp>
        <p:nvGrpSpPr>
          <p:cNvPr name="Group 17" id="17"/>
          <p:cNvGrpSpPr/>
          <p:nvPr/>
        </p:nvGrpSpPr>
        <p:grpSpPr>
          <a:xfrm rot="0">
            <a:off x="5524500" y="2095500"/>
            <a:ext cx="11715902" cy="1238402"/>
            <a:chOff x="0" y="0"/>
            <a:chExt cx="15621203" cy="1651203"/>
          </a:xfrm>
        </p:grpSpPr>
        <p:sp>
          <p:nvSpPr>
            <p:cNvPr name="Freeform 18" id="18"/>
            <p:cNvSpPr/>
            <p:nvPr/>
          </p:nvSpPr>
          <p:spPr>
            <a:xfrm flipH="false" flipV="false" rot="0">
              <a:off x="0" y="0"/>
              <a:ext cx="15621200" cy="1651200"/>
            </a:xfrm>
            <a:custGeom>
              <a:avLst/>
              <a:gdLst/>
              <a:ahLst/>
              <a:cxnLst/>
              <a:rect r="r" b="b" t="t" l="l"/>
              <a:pathLst>
                <a:path h="1651200" w="15621200">
                  <a:moveTo>
                    <a:pt x="0" y="0"/>
                  </a:moveTo>
                  <a:lnTo>
                    <a:pt x="15621200" y="0"/>
                  </a:lnTo>
                  <a:lnTo>
                    <a:pt x="15621200" y="1651200"/>
                  </a:lnTo>
                  <a:lnTo>
                    <a:pt x="0" y="1651200"/>
                  </a:lnTo>
                  <a:close/>
                </a:path>
              </a:pathLst>
            </a:custGeom>
            <a:blipFill>
              <a:blip r:embed="rId2">
                <a:alphaModFix amt="0"/>
              </a:blip>
              <a:stretch>
                <a:fillRect l="0" t="-134338" r="0" b="-134338"/>
              </a:stretch>
            </a:blipFill>
          </p:spPr>
        </p:sp>
        <p:sp>
          <p:nvSpPr>
            <p:cNvPr name="TextBox 19" id="19"/>
            <p:cNvSpPr txBox="true"/>
            <p:nvPr/>
          </p:nvSpPr>
          <p:spPr>
            <a:xfrm>
              <a:off x="0" y="0"/>
              <a:ext cx="15621203" cy="1651203"/>
            </a:xfrm>
            <a:prstGeom prst="rect">
              <a:avLst/>
            </a:prstGeom>
          </p:spPr>
          <p:txBody>
            <a:bodyPr anchor="ctr" rtlCol="false" tIns="0" lIns="0" bIns="0" rIns="0"/>
            <a:lstStyle/>
            <a:p>
              <a:pPr algn="l">
                <a:lnSpc>
                  <a:spcPts val="2160"/>
                </a:lnSpc>
              </a:pPr>
              <a:r>
                <a:rPr lang="en-US" b="true" sz="1800">
                  <a:solidFill>
                    <a:srgbClr val="333333"/>
                  </a:solidFill>
                  <a:latin typeface="Libre Franklin Bold"/>
                  <a:ea typeface="Libre Franklin Bold"/>
                  <a:cs typeface="Libre Franklin Bold"/>
                  <a:sym typeface="Libre Franklin Bold"/>
                </a:rPr>
                <a:t>OBJETIVO:</a:t>
              </a:r>
              <a:r>
                <a:rPr lang="en-US" sz="1800">
                  <a:solidFill>
                    <a:srgbClr val="333333"/>
                  </a:solidFill>
                  <a:latin typeface="Libre Franklin"/>
                  <a:ea typeface="Libre Franklin"/>
                  <a:cs typeface="Libre Franklin"/>
                  <a:sym typeface="Libre Franklin"/>
                </a:rPr>
                <a:t> El estudiante investigará y organizará información sobre tipos de datos en programación, elaborando una tabla comparativa que muestre sus diferencias y aplicaciones.</a:t>
              </a:r>
            </a:p>
          </p:txBody>
        </p:sp>
      </p:grpSp>
      <p:sp>
        <p:nvSpPr>
          <p:cNvPr name="TextBox 20" id="20"/>
          <p:cNvSpPr txBox="true"/>
          <p:nvPr/>
        </p:nvSpPr>
        <p:spPr>
          <a:xfrm rot="0">
            <a:off x="762000" y="3705225"/>
            <a:ext cx="9525000" cy="3819525"/>
          </a:xfrm>
          <a:prstGeom prst="rect">
            <a:avLst/>
          </a:prstGeom>
        </p:spPr>
        <p:txBody>
          <a:bodyPr anchor="t" rtlCol="false" tIns="0" lIns="0" bIns="0" rIns="0">
            <a:spAutoFit/>
          </a:bodyPr>
          <a:lstStyle/>
          <a:p>
            <a:pPr algn="l">
              <a:lnSpc>
                <a:spcPts val="2879"/>
              </a:lnSpc>
            </a:pPr>
            <a:r>
              <a:rPr lang="en-US" b="true" sz="2400">
                <a:solidFill>
                  <a:srgbClr val="131416"/>
                </a:solidFill>
                <a:latin typeface="Arial Bold"/>
                <a:ea typeface="Arial Bold"/>
                <a:cs typeface="Arial Bold"/>
                <a:sym typeface="Arial Bold"/>
              </a:rPr>
              <a:t>INSTRUCCIONES:</a:t>
            </a:r>
          </a:p>
          <a:p>
            <a:pPr algn="l" marL="331470" indent="-165735" lvl="1">
              <a:lnSpc>
                <a:spcPts val="2160"/>
              </a:lnSpc>
              <a:buFont typeface="Arial"/>
              <a:buChar char="•"/>
            </a:pPr>
            <a:r>
              <a:rPr lang="en-US" b="true" sz="1800">
                <a:solidFill>
                  <a:srgbClr val="333333"/>
                </a:solidFill>
                <a:latin typeface="Libre Franklin Bold"/>
                <a:ea typeface="Libre Franklin Bold"/>
                <a:cs typeface="Libre Franklin Bold"/>
                <a:sym typeface="Libre Franklin Bold"/>
              </a:rPr>
              <a:t>Investigación:</a:t>
            </a:r>
            <a:r>
              <a:rPr lang="en-US" sz="1800">
                <a:solidFill>
                  <a:srgbClr val="333333"/>
                </a:solidFill>
                <a:latin typeface="Libre Franklin"/>
                <a:ea typeface="Libre Franklin"/>
                <a:cs typeface="Libre Franklin"/>
                <a:sym typeface="Libre Franklin"/>
              </a:rPr>
              <a:t> Tipos de datos primitivos y compuestos (entero, flotante, carácter, cadena, booleano, listas, arreglos, estructuras).</a:t>
            </a:r>
          </a:p>
          <a:p>
            <a:pPr algn="l" marL="331470" indent="-165735" lvl="1">
              <a:lnSpc>
                <a:spcPts val="2160"/>
              </a:lnSpc>
              <a:buFont typeface="Arial"/>
              <a:buChar char="•"/>
            </a:pPr>
            <a:r>
              <a:rPr lang="en-US" b="true" sz="1800">
                <a:solidFill>
                  <a:srgbClr val="333333"/>
                </a:solidFill>
                <a:latin typeface="Libre Franklin Bold"/>
                <a:ea typeface="Libre Franklin Bold"/>
                <a:cs typeface="Libre Franklin Bold"/>
                <a:sym typeface="Libre Franklin Bold"/>
              </a:rPr>
              <a:t>Implementación:</a:t>
            </a:r>
            <a:r>
              <a:rPr lang="en-US" sz="1800">
                <a:solidFill>
                  <a:srgbClr val="333333"/>
                </a:solidFill>
                <a:latin typeface="Libre Franklin"/>
                <a:ea typeface="Libre Franklin"/>
                <a:cs typeface="Libre Franklin"/>
                <a:sym typeface="Libre Franklin"/>
              </a:rPr>
              <a:t> Tabla comparativa con nombre, descripción, ejemplo, ventajas/desventajas y aplicación.</a:t>
            </a:r>
          </a:p>
          <a:p>
            <a:pPr algn="l" marL="331470" indent="-165735" lvl="1">
              <a:lnSpc>
                <a:spcPts val="2160"/>
              </a:lnSpc>
              <a:buFont typeface="Arial"/>
              <a:buChar char="•"/>
            </a:pPr>
            <a:r>
              <a:rPr lang="en-US" b="true" sz="1800">
                <a:solidFill>
                  <a:srgbClr val="333333"/>
                </a:solidFill>
                <a:latin typeface="Libre Franklin Bold"/>
                <a:ea typeface="Libre Franklin Bold"/>
                <a:cs typeface="Libre Franklin Bold"/>
                <a:sym typeface="Libre Franklin Bold"/>
              </a:rPr>
              <a:t>Reporte:</a:t>
            </a:r>
            <a:r>
              <a:rPr lang="en-US" sz="1800">
                <a:solidFill>
                  <a:srgbClr val="333333"/>
                </a:solidFill>
                <a:latin typeface="Libre Franklin"/>
                <a:ea typeface="Libre Franklin"/>
                <a:cs typeface="Libre Franklin"/>
                <a:sym typeface="Libre Franklin"/>
              </a:rPr>
              <a:t> Generar un PDF con la tabla comparativa, ordenado y claro.</a:t>
            </a:r>
          </a:p>
        </p:txBody>
      </p:sp>
      <p:sp>
        <p:nvSpPr>
          <p:cNvPr name="TextBox 21" id="21"/>
          <p:cNvSpPr txBox="true"/>
          <p:nvPr/>
        </p:nvSpPr>
        <p:spPr>
          <a:xfrm rot="0">
            <a:off x="762000" y="6657975"/>
            <a:ext cx="9525000" cy="1914525"/>
          </a:xfrm>
          <a:prstGeom prst="rect">
            <a:avLst/>
          </a:prstGeom>
        </p:spPr>
        <p:txBody>
          <a:bodyPr anchor="t" rtlCol="false" tIns="0" lIns="0" bIns="0" rIns="0">
            <a:spAutoFit/>
          </a:bodyPr>
          <a:lstStyle/>
          <a:p>
            <a:pPr algn="l">
              <a:lnSpc>
                <a:spcPts val="2879"/>
              </a:lnSpc>
            </a:pPr>
            <a:r>
              <a:rPr lang="en-US" b="true" sz="2400">
                <a:solidFill>
                  <a:srgbClr val="131416"/>
                </a:solidFill>
                <a:latin typeface="Arial Bold"/>
                <a:ea typeface="Arial Bold"/>
                <a:cs typeface="Arial Bold"/>
                <a:sym typeface="Arial Bold"/>
              </a:rPr>
              <a:t>ENTREGABLE:</a:t>
            </a:r>
          </a:p>
          <a:p>
            <a:pPr algn="l">
              <a:lnSpc>
                <a:spcPts val="2160"/>
              </a:lnSpc>
            </a:pPr>
            <a:r>
              <a:rPr lang="en-US" sz="1800">
                <a:solidFill>
                  <a:srgbClr val="333333"/>
                </a:solidFill>
                <a:latin typeface="Libre Franklin"/>
                <a:ea typeface="Libre Franklin"/>
                <a:cs typeface="Libre Franklin"/>
                <a:sym typeface="Libre Franklin"/>
              </a:rPr>
              <a:t>Archivo PDF subido a UEDI</a:t>
            </a:r>
          </a:p>
          <a:p>
            <a:pPr algn="l">
              <a:lnSpc>
                <a:spcPts val="2160"/>
              </a:lnSpc>
            </a:pPr>
            <a:r>
              <a:rPr lang="en-US" sz="1800">
                <a:solidFill>
                  <a:srgbClr val="333333"/>
                </a:solidFill>
                <a:latin typeface="Libre Franklin"/>
                <a:ea typeface="Libre Franklin"/>
                <a:cs typeface="Libre Franklin"/>
                <a:sym typeface="Libre Franklin"/>
              </a:rPr>
              <a:t>Nombre: </a:t>
            </a:r>
            <a:r>
              <a:rPr lang="en-US" b="true" sz="1800">
                <a:solidFill>
                  <a:srgbClr val="333333"/>
                </a:solidFill>
                <a:latin typeface="Libre Franklin Bold"/>
                <a:ea typeface="Libre Franklin Bold"/>
                <a:cs typeface="Libre Franklin Bold"/>
                <a:sym typeface="Libre Franklin Bold"/>
              </a:rPr>
              <a:t>PC1_T0_CARNET.pdf</a:t>
            </a:r>
          </a:p>
        </p:txBody>
      </p:sp>
      <p:grpSp>
        <p:nvGrpSpPr>
          <p:cNvPr name="Group 22" id="22"/>
          <p:cNvGrpSpPr/>
          <p:nvPr/>
        </p:nvGrpSpPr>
        <p:grpSpPr>
          <a:xfrm rot="0">
            <a:off x="10944225" y="3705225"/>
            <a:ext cx="6591452" cy="4781550"/>
            <a:chOff x="0" y="0"/>
            <a:chExt cx="8788603" cy="6375400"/>
          </a:xfrm>
        </p:grpSpPr>
        <p:sp>
          <p:nvSpPr>
            <p:cNvPr name="Freeform 23" id="23"/>
            <p:cNvSpPr/>
            <p:nvPr/>
          </p:nvSpPr>
          <p:spPr>
            <a:xfrm flipH="false" flipV="false" rot="0">
              <a:off x="0" y="0"/>
              <a:ext cx="8788654" cy="6375400"/>
            </a:xfrm>
            <a:custGeom>
              <a:avLst/>
              <a:gdLst/>
              <a:ahLst/>
              <a:cxnLst/>
              <a:rect r="r" b="b" t="t" l="l"/>
              <a:pathLst>
                <a:path h="6375400" w="8788654">
                  <a:moveTo>
                    <a:pt x="0" y="191262"/>
                  </a:moveTo>
                  <a:cubicBezTo>
                    <a:pt x="0" y="85598"/>
                    <a:pt x="85598" y="0"/>
                    <a:pt x="191262" y="0"/>
                  </a:cubicBezTo>
                  <a:lnTo>
                    <a:pt x="8597392" y="0"/>
                  </a:lnTo>
                  <a:cubicBezTo>
                    <a:pt x="8703056" y="0"/>
                    <a:pt x="8788654" y="85598"/>
                    <a:pt x="8788654" y="191262"/>
                  </a:cubicBezTo>
                  <a:lnTo>
                    <a:pt x="8788654" y="6184138"/>
                  </a:lnTo>
                  <a:cubicBezTo>
                    <a:pt x="8788654" y="6289802"/>
                    <a:pt x="8703056" y="6375400"/>
                    <a:pt x="8597392" y="6375400"/>
                  </a:cubicBezTo>
                  <a:lnTo>
                    <a:pt x="191262" y="6375400"/>
                  </a:lnTo>
                  <a:cubicBezTo>
                    <a:pt x="85598" y="6375400"/>
                    <a:pt x="0" y="6289802"/>
                    <a:pt x="0" y="6184138"/>
                  </a:cubicBezTo>
                  <a:close/>
                </a:path>
              </a:pathLst>
            </a:custGeom>
            <a:solidFill>
              <a:srgbClr val="FFFFFF"/>
            </a:solidFill>
            <a:ln w="19050" cap="sq">
              <a:solidFill>
                <a:srgbClr val="DDDDDD"/>
              </a:solidFill>
              <a:prstDash val="solid"/>
              <a:miter/>
            </a:ln>
          </p:spPr>
        </p:sp>
      </p:grpSp>
      <p:graphicFrame>
        <p:nvGraphicFramePr>
          <p:cNvPr name="Table 24" id="24"/>
          <p:cNvGraphicFramePr>
            <a:graphicFrameLocks noGrp="true"/>
          </p:cNvGraphicFramePr>
          <p:nvPr/>
        </p:nvGraphicFramePr>
        <p:xfrm>
          <a:off x="11239500" y="3905250"/>
          <a:ext cx="5994400" cy="4343400"/>
        </p:xfrm>
        <a:graphic>
          <a:graphicData uri="http://schemas.openxmlformats.org/drawingml/2006/table">
            <a:tbl>
              <a:tblPr/>
              <a:tblGrid>
                <a:gridCol w="2997200"/>
                <a:gridCol w="2997200"/>
              </a:tblGrid>
              <a:tr h="723900">
                <a:tc>
                  <a:txBody>
                    <a:bodyPr anchor="t" rtlCol="false"/>
                    <a:lstStyle/>
                    <a:p>
                      <a:pPr algn="l">
                        <a:lnSpc>
                          <a:spcPts val="1679"/>
                        </a:lnSpc>
                        <a:defRPr/>
                      </a:pPr>
                      <a:r>
                        <a:rPr lang="en-US" sz="1399">
                          <a:solidFill>
                            <a:srgbClr val="000000"/>
                          </a:solidFill>
                          <a:latin typeface="Arial"/>
                          <a:ea typeface="Arial"/>
                          <a:cs typeface="Arial"/>
                          <a:sym typeface="Arial"/>
                        </a:rPr>
                        <a:t>Criterio</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r">
                        <a:lnSpc>
                          <a:spcPts val="1679"/>
                        </a:lnSpc>
                        <a:defRPr/>
                      </a:pPr>
                      <a:r>
                        <a:rPr lang="en-US" sz="1399">
                          <a:solidFill>
                            <a:srgbClr val="000000"/>
                          </a:solidFill>
                          <a:latin typeface="Arial"/>
                          <a:ea typeface="Arial"/>
                          <a:cs typeface="Arial"/>
                          <a:sym typeface="Arial"/>
                        </a:rPr>
                        <a:t>Punteo</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23900">
                <a:tc>
                  <a:txBody>
                    <a:bodyPr anchor="t" rtlCol="false"/>
                    <a:lstStyle/>
                    <a:p>
                      <a:pPr algn="l">
                        <a:lnSpc>
                          <a:spcPts val="1679"/>
                        </a:lnSpc>
                        <a:defRPr/>
                      </a:pPr>
                      <a:r>
                        <a:rPr lang="en-US" sz="1399">
                          <a:solidFill>
                            <a:srgbClr val="000000"/>
                          </a:solidFill>
                          <a:latin typeface="Arial"/>
                          <a:ea typeface="Arial"/>
                          <a:cs typeface="Arial"/>
                          <a:sym typeface="Arial"/>
                        </a:rPr>
                        <a:t>Investigación</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r">
                        <a:lnSpc>
                          <a:spcPts val="1679"/>
                        </a:lnSpc>
                        <a:defRPr/>
                      </a:pPr>
                      <a:r>
                        <a:rPr lang="en-US" sz="1399">
                          <a:solidFill>
                            <a:srgbClr val="000000"/>
                          </a:solidFill>
                          <a:latin typeface="Arial"/>
                          <a:ea typeface="Arial"/>
                          <a:cs typeface="Arial"/>
                          <a:sym typeface="Arial"/>
                        </a:rPr>
                        <a:t>1.00 pt</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23900">
                <a:tc>
                  <a:txBody>
                    <a:bodyPr anchor="t" rtlCol="false"/>
                    <a:lstStyle/>
                    <a:p>
                      <a:pPr algn="l">
                        <a:lnSpc>
                          <a:spcPts val="1679"/>
                        </a:lnSpc>
                        <a:defRPr/>
                      </a:pPr>
                      <a:r>
                        <a:rPr lang="en-US" sz="1399">
                          <a:solidFill>
                            <a:srgbClr val="000000"/>
                          </a:solidFill>
                          <a:latin typeface="Arial"/>
                          <a:ea typeface="Arial"/>
                          <a:cs typeface="Arial"/>
                          <a:sym typeface="Arial"/>
                        </a:rPr>
                        <a:t>Implementación</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r">
                        <a:lnSpc>
                          <a:spcPts val="1679"/>
                        </a:lnSpc>
                        <a:defRPr/>
                      </a:pPr>
                      <a:r>
                        <a:rPr lang="en-US" sz="1399">
                          <a:solidFill>
                            <a:srgbClr val="000000"/>
                          </a:solidFill>
                          <a:latin typeface="Arial"/>
                          <a:ea typeface="Arial"/>
                          <a:cs typeface="Arial"/>
                          <a:sym typeface="Arial"/>
                        </a:rPr>
                        <a:t>1.00 pt</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23900">
                <a:tc>
                  <a:txBody>
                    <a:bodyPr anchor="t" rtlCol="false"/>
                    <a:lstStyle/>
                    <a:p>
                      <a:pPr algn="l">
                        <a:lnSpc>
                          <a:spcPts val="1679"/>
                        </a:lnSpc>
                        <a:defRPr/>
                      </a:pPr>
                      <a:r>
                        <a:rPr lang="en-US" sz="1399">
                          <a:solidFill>
                            <a:srgbClr val="000000"/>
                          </a:solidFill>
                          <a:latin typeface="Arial"/>
                          <a:ea typeface="Arial"/>
                          <a:cs typeface="Arial"/>
                          <a:sym typeface="Arial"/>
                        </a:rPr>
                        <a:t>Reporte</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r">
                        <a:lnSpc>
                          <a:spcPts val="1679"/>
                        </a:lnSpc>
                        <a:defRPr/>
                      </a:pPr>
                      <a:r>
                        <a:rPr lang="en-US" sz="1399">
                          <a:solidFill>
                            <a:srgbClr val="000000"/>
                          </a:solidFill>
                          <a:latin typeface="Arial"/>
                          <a:ea typeface="Arial"/>
                          <a:cs typeface="Arial"/>
                          <a:sym typeface="Arial"/>
                        </a:rPr>
                        <a:t>0.25 pt</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23900">
                <a:tc>
                  <a:txBody>
                    <a:bodyPr anchor="t" rtlCol="false"/>
                    <a:lstStyle/>
                    <a:p>
                      <a:pPr algn="l">
                        <a:lnSpc>
                          <a:spcPts val="1679"/>
                        </a:lnSpc>
                        <a:defRPr/>
                      </a:pPr>
                      <a:r>
                        <a:rPr lang="en-US" sz="1399">
                          <a:solidFill>
                            <a:srgbClr val="000000"/>
                          </a:solidFill>
                          <a:latin typeface="Arial"/>
                          <a:ea typeface="Arial"/>
                          <a:cs typeface="Arial"/>
                          <a:sym typeface="Arial"/>
                        </a:rPr>
                        <a:t>Presentación</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r">
                        <a:lnSpc>
                          <a:spcPts val="1679"/>
                        </a:lnSpc>
                        <a:defRPr/>
                      </a:pPr>
                      <a:r>
                        <a:rPr lang="en-US" sz="1399">
                          <a:solidFill>
                            <a:srgbClr val="000000"/>
                          </a:solidFill>
                          <a:latin typeface="Arial"/>
                          <a:ea typeface="Arial"/>
                          <a:cs typeface="Arial"/>
                          <a:sym typeface="Arial"/>
                        </a:rPr>
                        <a:t>0.25 pt</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23900">
                <a:tc>
                  <a:txBody>
                    <a:bodyPr anchor="t" rtlCol="false"/>
                    <a:lstStyle/>
                    <a:p>
                      <a:pPr algn="l">
                        <a:lnSpc>
                          <a:spcPts val="1679"/>
                        </a:lnSpc>
                        <a:defRPr/>
                      </a:pPr>
                      <a:r>
                        <a:rPr lang="en-US" b="true" sz="1399">
                          <a:solidFill>
                            <a:srgbClr val="000000"/>
                          </a:solidFill>
                          <a:latin typeface="Arial Bold"/>
                          <a:ea typeface="Arial Bold"/>
                          <a:cs typeface="Arial Bold"/>
                          <a:sym typeface="Arial Bold"/>
                        </a:rPr>
                        <a:t>Total</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r">
                        <a:lnSpc>
                          <a:spcPts val="1679"/>
                        </a:lnSpc>
                        <a:defRPr/>
                      </a:pPr>
                      <a:r>
                        <a:rPr lang="en-US" b="true" sz="1399">
                          <a:solidFill>
                            <a:srgbClr val="000000"/>
                          </a:solidFill>
                          <a:latin typeface="Arial Bold"/>
                          <a:ea typeface="Arial Bold"/>
                          <a:cs typeface="Arial Bold"/>
                          <a:sym typeface="Arial Bold"/>
                        </a:rPr>
                        <a:t>2.50 pts</a:t>
                      </a:r>
                      <a:endParaRPr lang="en-US" sz="1100"/>
                    </a:p>
                  </a:txBody>
                  <a:tcPr marL="95250" marR="95250" marT="95250" marB="952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TextBox 2" id="2"/>
          <p:cNvSpPr txBox="true"/>
          <p:nvPr/>
        </p:nvSpPr>
        <p:spPr>
          <a:xfrm rot="0">
            <a:off x="5791500" y="7232237"/>
            <a:ext cx="6705000" cy="1064771"/>
          </a:xfrm>
          <a:prstGeom prst="rect">
            <a:avLst/>
          </a:prstGeom>
        </p:spPr>
        <p:txBody>
          <a:bodyPr anchor="t" rtlCol="false" tIns="0" lIns="0" bIns="0" rIns="0">
            <a:spAutoFit/>
          </a:bodyPr>
          <a:lstStyle/>
          <a:p>
            <a:pPr algn="ctr">
              <a:lnSpc>
                <a:spcPts val="8879"/>
              </a:lnSpc>
            </a:pPr>
            <a:r>
              <a:rPr lang="en-US" sz="4999">
                <a:solidFill>
                  <a:srgbClr val="FFFFFF"/>
                </a:solidFill>
                <a:latin typeface="Arial"/>
                <a:ea typeface="Arial"/>
                <a:cs typeface="Arial"/>
                <a:sym typeface="Arial"/>
              </a:rPr>
              <a:t>DUDAS ¿?</a:t>
            </a:r>
          </a:p>
        </p:txBody>
      </p:sp>
      <p:grpSp>
        <p:nvGrpSpPr>
          <p:cNvPr name="Group 3" id="3"/>
          <p:cNvGrpSpPr/>
          <p:nvPr/>
        </p:nvGrpSpPr>
        <p:grpSpPr>
          <a:xfrm rot="0">
            <a:off x="4576286" y="1028700"/>
            <a:ext cx="9135428" cy="5691797"/>
            <a:chOff x="0" y="0"/>
            <a:chExt cx="12180570" cy="7589063"/>
          </a:xfrm>
        </p:grpSpPr>
        <p:sp>
          <p:nvSpPr>
            <p:cNvPr name="Freeform 4" id="4"/>
            <p:cNvSpPr/>
            <p:nvPr/>
          </p:nvSpPr>
          <p:spPr>
            <a:xfrm flipH="false" flipV="false" rot="0">
              <a:off x="0" y="0"/>
              <a:ext cx="12180570" cy="7589012"/>
            </a:xfrm>
            <a:custGeom>
              <a:avLst/>
              <a:gdLst/>
              <a:ahLst/>
              <a:cxnLst/>
              <a:rect r="r" b="b" t="t" l="l"/>
              <a:pathLst>
                <a:path h="7589012" w="12180570">
                  <a:moveTo>
                    <a:pt x="0" y="0"/>
                  </a:moveTo>
                  <a:lnTo>
                    <a:pt x="12180570" y="0"/>
                  </a:lnTo>
                  <a:lnTo>
                    <a:pt x="12180570" y="7589012"/>
                  </a:lnTo>
                  <a:lnTo>
                    <a:pt x="0" y="7589012"/>
                  </a:lnTo>
                  <a:lnTo>
                    <a:pt x="0" y="0"/>
                  </a:lnTo>
                  <a:close/>
                </a:path>
              </a:pathLst>
            </a:custGeom>
            <a:blipFill>
              <a:blip r:embed="rId2"/>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TextBox 2" id="2"/>
          <p:cNvSpPr txBox="true"/>
          <p:nvPr/>
        </p:nvSpPr>
        <p:spPr>
          <a:xfrm rot="0">
            <a:off x="4571990" y="5023656"/>
            <a:ext cx="8658901" cy="1310643"/>
          </a:xfrm>
          <a:prstGeom prst="rect">
            <a:avLst/>
          </a:prstGeom>
        </p:spPr>
        <p:txBody>
          <a:bodyPr anchor="t" rtlCol="false" tIns="0" lIns="0" bIns="0" rIns="0">
            <a:spAutoFit/>
          </a:bodyPr>
          <a:lstStyle/>
          <a:p>
            <a:pPr algn="just">
              <a:lnSpc>
                <a:spcPts val="7611"/>
              </a:lnSpc>
            </a:pPr>
            <a:r>
              <a:rPr lang="en-US" sz="6098">
                <a:solidFill>
                  <a:srgbClr val="FFFFFF"/>
                </a:solidFill>
                <a:latin typeface="Impact"/>
                <a:ea typeface="Impact"/>
                <a:cs typeface="Impact"/>
                <a:sym typeface="Impact"/>
              </a:rPr>
              <a:t>¡GRACIAS POR SU  ATENCIÓN!</a:t>
            </a:r>
          </a:p>
          <a:p>
            <a:pPr algn="just">
              <a:lnSpc>
                <a:spcPts val="1747"/>
              </a:lnSpc>
            </a:pPr>
          </a:p>
        </p:txBody>
      </p:sp>
      <p:grpSp>
        <p:nvGrpSpPr>
          <p:cNvPr name="Group 3" id="3"/>
          <p:cNvGrpSpPr/>
          <p:nvPr/>
        </p:nvGrpSpPr>
        <p:grpSpPr>
          <a:xfrm rot="0">
            <a:off x="7765361" y="596598"/>
            <a:ext cx="2757268" cy="3770967"/>
            <a:chOff x="0" y="0"/>
            <a:chExt cx="3676358" cy="5027955"/>
          </a:xfrm>
        </p:grpSpPr>
        <p:sp>
          <p:nvSpPr>
            <p:cNvPr name="Freeform 4" id="4"/>
            <p:cNvSpPr/>
            <p:nvPr/>
          </p:nvSpPr>
          <p:spPr>
            <a:xfrm flipH="false" flipV="false" rot="0">
              <a:off x="0" y="0"/>
              <a:ext cx="3676396" cy="5027930"/>
            </a:xfrm>
            <a:custGeom>
              <a:avLst/>
              <a:gdLst/>
              <a:ahLst/>
              <a:cxnLst/>
              <a:rect r="r" b="b" t="t" l="l"/>
              <a:pathLst>
                <a:path h="5027930" w="3676396">
                  <a:moveTo>
                    <a:pt x="0" y="0"/>
                  </a:moveTo>
                  <a:lnTo>
                    <a:pt x="3676396" y="0"/>
                  </a:lnTo>
                  <a:lnTo>
                    <a:pt x="3676396" y="5027930"/>
                  </a:lnTo>
                  <a:lnTo>
                    <a:pt x="0" y="5027930"/>
                  </a:lnTo>
                  <a:lnTo>
                    <a:pt x="0" y="0"/>
                  </a:lnTo>
                  <a:close/>
                </a:path>
              </a:pathLst>
            </a:custGeom>
            <a:blipFill>
              <a:blip r:embed="rId2"/>
              <a:stretch>
                <a:fillRect l="-6" t="0" r="-6" b="0"/>
              </a:stretch>
            </a:blipFill>
          </p:spPr>
        </p:sp>
      </p:grpSp>
      <p:sp>
        <p:nvSpPr>
          <p:cNvPr name="TextBox 5" id="5"/>
          <p:cNvSpPr txBox="true"/>
          <p:nvPr/>
        </p:nvSpPr>
        <p:spPr>
          <a:xfrm rot="0">
            <a:off x="2411101" y="7785440"/>
            <a:ext cx="13465797" cy="877795"/>
          </a:xfrm>
          <a:prstGeom prst="rect">
            <a:avLst/>
          </a:prstGeom>
        </p:spPr>
        <p:txBody>
          <a:bodyPr anchor="t" rtlCol="false" tIns="0" lIns="0" bIns="0" rIns="0">
            <a:spAutoFit/>
          </a:bodyPr>
          <a:lstStyle/>
          <a:p>
            <a:pPr algn="ctr">
              <a:lnSpc>
                <a:spcPts val="3552"/>
              </a:lnSpc>
            </a:pPr>
            <a:r>
              <a:rPr lang="en-US" sz="2000">
                <a:solidFill>
                  <a:srgbClr val="FFFFFF"/>
                </a:solidFill>
                <a:latin typeface="Arial"/>
                <a:ea typeface="Arial"/>
                <a:cs typeface="Arial"/>
                <a:sym typeface="Arial"/>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DAHMIMGIXn8</dc:identifier>
  <dcterms:modified xsi:type="dcterms:W3CDTF">2011-08-01T06:04:30Z</dcterms:modified>
  <cp:revision>1</cp:revision>
  <dc:title>Tutor: Marco Fernando Cruz Mendoza</dc:title>
</cp:coreProperties>
</file>